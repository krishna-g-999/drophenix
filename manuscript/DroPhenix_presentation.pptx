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91695" cy="27432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300" b="1" i="0">
                <a:solidFill>
                  <a:srgbClr val="F0A500"/>
                </a:solidFill>
                <a:latin typeface="Calibri"/>
              </a:rPr>
              <a:t>SCIENCE FOR SOCIETY  ·  SSSIHL  ·  SAI-NET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Calibri"/>
              </a:rPr>
              <a:t>DroPhenix </a:t>
            </a:r>
            <a:r>
              <a:rPr sz="4600" b="1" i="0">
                <a:solidFill>
                  <a:srgbClr val="F0A500"/>
                </a:solidFill>
                <a:latin typeface="Calibri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800" b="0" i="0">
                <a:solidFill>
                  <a:srgbClr val="EEF2F9"/>
                </a:solidFill>
                <a:latin typeface="Calibri"/>
              </a:rPr>
              <a:t>A statistically rigorous web platform for multi-assay Drosophila phenotyping and actuarial cross-strain compound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246888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96512"/>
            <a:ext cx="24688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assays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383280"/>
            <a:ext cx="246888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24/24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4096512"/>
            <a:ext cx="24688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tool checks 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383280"/>
            <a:ext cx="246888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r = 1.0000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096512"/>
            <a:ext cx="24688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vs gold-standard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383280"/>
            <a:ext cx="246888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18/18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4096512"/>
            <a:ext cx="24688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reference datasets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300" b="0" i="0">
                <a:solidFill>
                  <a:srgbClr val="EEF2F9"/>
                </a:solidFill>
                <a:latin typeface="Calibri"/>
              </a:rPr>
              <a:t>Krishnasalini Gunanathan  ·  Venketesh Sivaramakrishnan   |   Dept. of Biosciences, SSSIHL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F0A500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EEF2F9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The problem we set out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85216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Fragmented analysis.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Six standard Drosophila assays — climbing, lifespan, Y-maze, sleep/circadian (DAMS), larval crawling, grooming — are analysed in disconnected spreadsheets and single-purpose scripts.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Under-powered statistics.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Climbing reduced to one endpoint %; lifespan reported as median only, omitting Kaplan–Meier, log-rank and Cox; periodograms often uncorrected for multiplicity.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No unequal-N method.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When one strain has 3 vials and another 7, averaging group means is biased toward the smaller, noisier strain — yet this is exactly the screening situation.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Verifiability gap.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Results are rarely benchmarked against published data or gold-standard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37360"/>
            <a:ext cx="4846320" cy="40233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0A500"/>
                </a:solidFill>
                <a:latin typeface="Calibri"/>
              </a:rPr>
              <a:t>The unmet need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One reproducible workflow that: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• unifies all six assays,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• applies correct, assumption-aware statistics,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• handles unequal-N strain comparison rigorously,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• and can be independently verified —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not merely trusted.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DroPhenix was built to meet each of these.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What we developed: six assays + cross-strain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Climbing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Negative geotaxis: PI, AUC, t50; video fly-counting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54480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Lifespan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Kaplan–Meier, log-rank, Cox proportional hazards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54480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Y-maze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Spontaneous alternation; turn-bias / handedness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72384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DAMS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Sleep (5-min rule) + circadian period (periodogram)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072384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Larval crawling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Video tracking: speed, path, tortuosity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072384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Grooming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% time grooming, bout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90288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Motor Decline Rate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Exponential decline of PI over 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590288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Trajectory clustering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DTW + Ward unsupervised phenotype grouping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590288"/>
            <a:ext cx="365760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Drug Ranking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Cross-strain, cross-assay meta-analytic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Actuarial cross-strain compound comparison under unequal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Per strain.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Drug-vs-vehicle effect = Hedges' g, whose variance depends on the two group sizes — so unequal N is handled at source.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Across strains.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Combine by inverse-variance / DerSimonian–Laird random-effects pooling: larger strains get more weight; small ones are down-weighted, not discarded.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Across assays.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Pool into one Therapeutic Score, oriented so positive = benefit, with heterogeneity (I²).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Why it matters.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This is the minimum-variance, correctly-calibrated way to rank a compound across unbalanced disease models — the first question a reviewer asks of a screen.</a:t>
            </a:r>
          </a:p>
        </p:txBody>
      </p:sp>
      <p:pic>
        <p:nvPicPr>
          <p:cNvPr id="6" name="Picture 5" descr="Figure2_inno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257800" cy="2085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46520" y="5806440"/>
            <a:ext cx="5257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Simulation (3000 runs): inverse-variance pooling gives 19.9% lower RMSE and 95.8% CI coverage vs naive averaging.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The calculation behind each module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300" b="1" i="0">
                <a:solidFill>
                  <a:srgbClr val="F0A500"/>
                </a:solidFill>
                <a:latin typeface="Calibri"/>
              </a:rPr>
              <a:t>Module</a:t>
            </a:r>
            <a:r>
              <a:rPr sz="1300" b="0" i="0">
                <a:solidFill>
                  <a:srgbClr val="F0A500"/>
                </a:solidFill>
                <a:latin typeface="Calibri"/>
              </a:rPr>
              <a:t>	</a:t>
            </a:r>
            <a:r>
              <a:rPr sz="1300" b="1" i="0">
                <a:solidFill>
                  <a:srgbClr val="F0A500"/>
                </a:solidFill>
                <a:latin typeface="Calibri"/>
              </a:rPr>
              <a:t>Calculation</a:t>
            </a:r>
            <a:r>
              <a:rPr sz="1300" b="0" i="0">
                <a:solidFill>
                  <a:srgbClr val="F0A500"/>
                </a:solidFill>
                <a:latin typeface="Calibri"/>
              </a:rPr>
              <a:t>	</a:t>
            </a:r>
            <a:r>
              <a:rPr sz="1300" b="1" i="0">
                <a:solidFill>
                  <a:srgbClr val="F0A500"/>
                </a:solidFill>
                <a:latin typeface="Calibri"/>
              </a:rPr>
              <a:t>Why we use it</a:t>
            </a:r>
            <a:r>
              <a:rPr sz="1300" b="0" i="0">
                <a:solidFill>
                  <a:srgbClr val="F0A500"/>
                </a:solidFill>
                <a:latin typeface="Calibri"/>
              </a:rPr>
              <a:t>	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2103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Climbing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874519"/>
            <a:ext cx="52120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00" b="0" i="0">
                <a:solidFill>
                  <a:srgbClr val="1E2933"/>
                </a:solidFill>
                <a:latin typeface="Cambria"/>
              </a:rPr>
              <a:t>PI = 2·(climbed/total)·100 − 100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74519"/>
            <a:ext cx="356616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5A6B7B"/>
                </a:solidFill>
                <a:latin typeface="Calibri"/>
              </a:rPr>
              <a:t>Standard negative-geotaxis readout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59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78023"/>
            <a:ext cx="2103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Lifespan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478023"/>
            <a:ext cx="52120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00" b="0" i="0">
                <a:solidFill>
                  <a:srgbClr val="1E2933"/>
                </a:solidFill>
                <a:latin typeface="Cambria"/>
              </a:rPr>
              <a:t>KM Ŝ(t)=Π(1−d/n); log-rank χ²; Cox HR=e^β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78023"/>
            <a:ext cx="356616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5A6B7B"/>
                </a:solidFill>
                <a:latin typeface="Calibri"/>
              </a:rPr>
              <a:t>Actuarial standard for censored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26663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81527"/>
            <a:ext cx="2103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Circadian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081527"/>
            <a:ext cx="52120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00" b="0" i="0">
                <a:solidFill>
                  <a:srgbClr val="1E2933"/>
                </a:solidFill>
                <a:latin typeface="Cambria"/>
              </a:rPr>
              <a:t>Sokolove–Bushell Q_P periodogram (Bonferroni)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081527"/>
            <a:ext cx="356616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5A6B7B"/>
                </a:solidFill>
                <a:latin typeface="Calibri"/>
              </a:rPr>
              <a:t>Field standard; controls false positives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30167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85031"/>
            <a:ext cx="2103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Sleep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3685031"/>
            <a:ext cx="52120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00" b="0" i="0">
                <a:solidFill>
                  <a:srgbClr val="1E2933"/>
                </a:solidFill>
                <a:latin typeface="Cambria"/>
              </a:rPr>
              <a:t>bout = ≥5 min zero 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1"/>
            <a:ext cx="356616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5A6B7B"/>
                </a:solidFill>
                <a:latin typeface="Calibri"/>
              </a:rPr>
              <a:t>Operational Drosophila sleep definition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33671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288535"/>
            <a:ext cx="2103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Y-maze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288535"/>
            <a:ext cx="52120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00" b="0" i="0">
                <a:solidFill>
                  <a:srgbClr val="1E2933"/>
                </a:solidFill>
                <a:latin typeface="Cambria"/>
              </a:rPr>
              <a:t>%alt=(triads/(entries−2)); bias=R/(R+L)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288535"/>
            <a:ext cx="356616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5A6B7B"/>
                </a:solidFill>
                <a:latin typeface="Calibri"/>
              </a:rPr>
              <a:t>Working memory + behavioural individuality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37175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39"/>
            <a:ext cx="2103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MDR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892039"/>
            <a:ext cx="52120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00" b="0" i="0">
                <a:solidFill>
                  <a:srgbClr val="1E2933"/>
                </a:solidFill>
                <a:latin typeface="Cambria"/>
              </a:rPr>
              <a:t>PI(age)=PI₀·e^(−k·age)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892039"/>
            <a:ext cx="356616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5A6B7B"/>
                </a:solidFill>
                <a:latin typeface="Calibri"/>
              </a:rPr>
              <a:t>Decline is age-dependent, not per-second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40679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495543"/>
            <a:ext cx="2103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Ranking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5495543"/>
            <a:ext cx="52120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00" b="0" i="0">
                <a:solidFill>
                  <a:srgbClr val="1E2933"/>
                </a:solidFill>
                <a:latin typeface="Cambria"/>
              </a:rPr>
              <a:t>Hedges' g → inverse-variance / DL pooling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5495543"/>
            <a:ext cx="356616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5A6B7B"/>
                </a:solidFill>
                <a:latin typeface="Calibri"/>
              </a:rPr>
              <a:t>Unequal-N, minimum-variance combination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044183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The statistics engine: assumption-aware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66928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Test selection is gated, not defaulted.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Shapiro–Wilk (normality) + Levene (variance) decide between Welch t / ANOVA and Mann–Whitney / Kruskal–Wallis.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Effect sizes are mandatory.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Cohen's d and small-sample-corrected Hedges' g; rank-biserial for non-parametric — significance is never reported alone.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Multiplicity is controlled.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Benjamini–Hochberg false-discovery-rate correction on all pairwise post-hoc tests.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Uncertainty is quantified.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Percentile bootstrap 95% confidence intervals (fixed seed → reproducible).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737360"/>
            <a:ext cx="5074920" cy="40233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0A500"/>
                </a:solidFill>
                <a:latin typeface="Calibri"/>
              </a:rPr>
              <a:t>Why this matters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Behavioural screens are small and noisy.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Defaulting to ANOVA on non-normal, unequal-variance, unequal-N data inflates false positives.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Gating the test on its assumptions, forcing effect sizes, and controlling the FDR is the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difference between a result that survives peer review and one that does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Tools and techniques — and why we chose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32120" cy="1097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Streamlit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Zero-install browser UI; no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532120" cy="1097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NumPy / pandas / SciPy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Vectorised numerics, curve-fitting, Lomb–Scargle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16352"/>
            <a:ext cx="5532120" cy="1097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statsmodels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Peer-reviewed survival core (KM, log-rank, Cox) + meta-analysis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816352"/>
            <a:ext cx="5532120" cy="1097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scikit-learn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PCA, silhouette, StandardScaler for clustering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78224"/>
            <a:ext cx="5532120" cy="1097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OpenCV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Otsu-threshold fly/larva detection (no training needed)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078224"/>
            <a:ext cx="5532120" cy="1097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Matplotlib / Plotly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300-dpi publication figures; interactive plots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300" b="1" i="0">
                <a:solidFill>
                  <a:srgbClr val="0D2137"/>
                </a:solidFill>
                <a:latin typeface="Calibri"/>
              </a:rPr>
              <a:t>Deterministic, not a trained model: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detection uses Otsu thresholding, clustering is unsupervised (DTW) — no black-box weights, every step is inspectable.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Data sources — real published anchors, honestly labelled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3"/>
                </a:solidFill>
                <a:latin typeface="Calibri"/>
              </a:rPr>
              <a:t>Real raw data. </a:t>
            </a:r>
            <a:r>
              <a:rPr sz="1400" b="0" i="0">
                <a:solidFill>
                  <a:srgbClr val="1E2933"/>
                </a:solidFill>
                <a:latin typeface="Calibri"/>
              </a:rPr>
              <a:t>Freireich et al. 1963 6-MP leukemia trial (survival); PlantGrowth / Dobson 1983 (ANOVA).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3"/>
                </a:solidFill>
                <a:latin typeface="Calibri"/>
              </a:rPr>
              <a:t>Real published parameters. </a:t>
            </a:r>
            <a:r>
              <a:rPr sz="1400" b="0" i="0">
                <a:solidFill>
                  <a:srgbClr val="1E2933"/>
                </a:solidFill>
                <a:latin typeface="Calibri"/>
              </a:rPr>
              <a:t>Konopka &amp; Benzer 1971 free-running periods (24 / 19 / 28 h).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3"/>
                </a:solidFill>
                <a:latin typeface="Calibri"/>
              </a:rPr>
              <a:t>Text-verified literature values. </a:t>
            </a:r>
            <a:r>
              <a:rPr sz="1400" b="0" i="0">
                <a:solidFill>
                  <a:srgbClr val="1E2933"/>
                </a:solidFill>
                <a:latin typeface="Calibri"/>
              </a:rPr>
              <a:t>Alternation chance 50% (Lewis 2017); turn bias 0.50 &amp; 23.5% extreme (de Bivort 2015); WT lifespan ≈50 d (Linford 2013); grooming ≈13% (Qiao 2018); larval ≈1 mm/s.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3"/>
                </a:solidFill>
                <a:latin typeface="Calibri"/>
              </a:rPr>
              <a:t>Reference datasets. </a:t>
            </a:r>
            <a:r>
              <a:rPr sz="1400" b="0" i="0">
                <a:solidFill>
                  <a:srgbClr val="1E2933"/>
                </a:solidFill>
                <a:latin typeface="Calibri"/>
              </a:rPr>
              <a:t>≥3 per assay in template format (reference_datasets/), each cited; simulations clearly labelled — no dataset is presented as raw data we did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37360"/>
            <a:ext cx="4846320" cy="40233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0A500"/>
                </a:solidFill>
                <a:latin typeface="Calibri"/>
              </a:rPr>
              <a:t>Verification-first principle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Where machine-readable raw supplements were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available, we used them directly.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Where they were not, we simulated from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explicitly cited published parameters and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labelled them as such.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18/18 reference datasets reproduce their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cited published expectation.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Testing parameters — what we chose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350" b="0" i="1">
                <a:solidFill>
                  <a:srgbClr val="5A6B7B"/>
                </a:solidFill>
                <a:latin typeface="Calibri"/>
              </a:rPr>
              <a:t>Every parameter is set from the literature, not tuned to flatter the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27432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Sleep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920240"/>
            <a:ext cx="2834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09E73"/>
                </a:solidFill>
                <a:latin typeface="Cambria"/>
              </a:rPr>
              <a:t>≥5 min inactivity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53035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Hendricks/Shaw 2000 operational definition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50592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27432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Alternation chance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496312"/>
            <a:ext cx="2834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09E73"/>
                </a:solidFill>
                <a:latin typeface="Cambria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496312"/>
            <a:ext cx="53035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Lewis 2017; emerges from the arm geometry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26664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72384"/>
            <a:ext cx="27432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Reference periods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72384"/>
            <a:ext cx="2834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09E73"/>
                </a:solidFill>
                <a:latin typeface="Cambria"/>
              </a:rPr>
              <a:t>24 / 19 / 28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072384"/>
            <a:ext cx="53035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Konopka &amp; Benzer 1971 wild-type / perS / perL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02736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48456"/>
            <a:ext cx="27432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Periodogram 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648456"/>
            <a:ext cx="2834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09E73"/>
                </a:solidFill>
                <a:latin typeface="Cambria"/>
              </a:rPr>
              <a:t>16–32 h, Bonferroni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48456"/>
            <a:ext cx="53035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Circadian band; controls family-wise 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78808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224528"/>
            <a:ext cx="27432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Turn-bias 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24528"/>
            <a:ext cx="2834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09E73"/>
                </a:solidFill>
                <a:latin typeface="Cambria"/>
              </a:rPr>
              <a:t>23.5% outside [0.3,0.7]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224528"/>
            <a:ext cx="53035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de Bivort 2015 Canton-S distribution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00600"/>
            <a:ext cx="27432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MDR axis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800600"/>
            <a:ext cx="2834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09E73"/>
                </a:solidFill>
                <a:latin typeface="Cambria"/>
              </a:rPr>
              <a:t>Age (days)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800600"/>
            <a:ext cx="53035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Negative geotaxis is age-dependent (Gargano 2005)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30952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76672"/>
            <a:ext cx="27432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Ties method (Cox)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5376672"/>
            <a:ext cx="2834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250" b="1" i="0">
                <a:solidFill>
                  <a:srgbClr val="009E73"/>
                </a:solidFill>
                <a:latin typeface="Cambria"/>
              </a:rPr>
              <a:t>Breslow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376672"/>
            <a:ext cx="53035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Matches published Klein–Moeschberger value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07024"/>
            <a:ext cx="1110996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Every module reproduces published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56032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12/12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50592"/>
            <a:ext cx="2560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validation suites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1737360"/>
            <a:ext cx="256032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χ² = 16.79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450592"/>
            <a:ext cx="2560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Freireich log-rank (published)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256032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HR = 4.52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450592"/>
            <a:ext cx="2560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Cox hazard ratio (= published)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39" y="1737360"/>
            <a:ext cx="2560320" cy="68580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0A500"/>
                </a:solidFill>
                <a:latin typeface="Calibri"/>
              </a:rPr>
              <a:t>r = 0.989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39" y="2450592"/>
            <a:ext cx="2560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MDR k-recovery</a:t>
            </a:r>
          </a:p>
        </p:txBody>
      </p:sp>
      <p:pic>
        <p:nvPicPr>
          <p:cNvPr id="13" name="Picture 12" descr="Figure1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3200400"/>
            <a:ext cx="9692640" cy="57525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100" b="0" i="1">
                <a:solidFill>
                  <a:srgbClr val="EEF2F9"/>
                </a:solidFill>
                <a:latin typeface="Calibri"/>
              </a:rPr>
              <a:t>Kaplan–Meier vs lifelines · climbing kinetics · MDR over age · periodogram · handedness · drug ranking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Agreement with seven established, independent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783080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24/24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metrics agree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39" y="1600200"/>
            <a:ext cx="1783080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r = 1.0000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DroPhenix vs 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00200"/>
            <a:ext cx="1783080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7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reference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E2933"/>
                </a:solidFill>
                <a:latin typeface="Calibri"/>
              </a:rPr>
              <a:t>R survival + base R </a:t>
            </a:r>
            <a:r>
              <a:rPr sz="1350" b="0" i="0">
                <a:solidFill>
                  <a:srgbClr val="1E2933"/>
                </a:solidFill>
                <a:latin typeface="Calibri"/>
              </a:rPr>
              <a:t>— KM, log-rank, Cox (Breslow), ANOVA, Kruskal: exact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E2933"/>
                </a:solidFill>
                <a:latin typeface="Calibri"/>
              </a:rPr>
              <a:t>lifelines / statsmodels </a:t>
            </a:r>
            <a:r>
              <a:rPr sz="1350" b="0" i="0">
                <a:solidFill>
                  <a:srgbClr val="1E2933"/>
                </a:solidFill>
                <a:latin typeface="Calibri"/>
              </a:rPr>
              <a:t>— survival &amp; meta-analysis: exact to 6 dp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E2933"/>
                </a:solidFill>
                <a:latin typeface="Calibri"/>
              </a:rPr>
              <a:t>scipy / pingouin </a:t>
            </a:r>
            <a:r>
              <a:rPr sz="1350" b="0" i="0">
                <a:solidFill>
                  <a:srgbClr val="1E2933"/>
                </a:solidFill>
                <a:latin typeface="Calibri"/>
              </a:rPr>
              <a:t>— ANOVA / Kruskal / Hedges g: exact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E2933"/>
                </a:solidFill>
                <a:latin typeface="Calibri"/>
              </a:rPr>
              <a:t>astropy + pyBOAT </a:t>
            </a:r>
            <a:r>
              <a:rPr sz="1350" b="0" i="0">
                <a:solidFill>
                  <a:srgbClr val="1E2933"/>
                </a:solidFill>
                <a:latin typeface="Calibri"/>
              </a:rPr>
              <a:t>— circadian period 24.00 vs 23.96 h (two methods)</a:t>
            </a:r>
          </a:p>
        </p:txBody>
      </p:sp>
      <p:pic>
        <p:nvPicPr>
          <p:cNvPr id="9" name="Picture 8" descr="Figure3_tool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08760"/>
            <a:ext cx="5391134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Why DroPhenix is reliable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109960" cy="8412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Reproduces published data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Textbook datasets (Freireich, PlantGrowth, Konopka–Benzer) return their exact published statistics.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05456"/>
            <a:ext cx="11109960" cy="8412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Agrees with gold-standard software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24/24 metrics match R survival, lifelines, statsmodels, scipy, pingouin, astropy, pyBOAT (r = 1.0000).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56432"/>
            <a:ext cx="11109960" cy="8412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Correct by construction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Assumption-gated tests, FDR control, the right measurement axis (e.g. MDR over age).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07408"/>
            <a:ext cx="11109960" cy="8412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Independently verifiable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The full validation + comparison suite ships; every number regenerates with one command.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58384"/>
            <a:ext cx="11109960" cy="8412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Honest about limits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Method notes (Breslow vs Efron), un-buildable tools, and simulated-vs-real data are all stated explicitly.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000" b="1" i="0">
                <a:solidFill>
                  <a:srgbClr val="0D2137"/>
                </a:solidFill>
                <a:latin typeface="Calibri"/>
              </a:rPr>
              <a:t>Applications — how it helps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3212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Neurodegeneration screening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Quantify a compound's effect in ALS / PD / HD fly models across climbing, lifespan, cognition, sleep and locomotion.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53212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Cross-strain compound triage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Rank candidates fairly across disease backgrounds of unequal size — the core novelty.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72384"/>
            <a:ext cx="553212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Translational scoring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Prioritise broad, safe, sustained rescue over high-efficacy but sex-discordant or WT-perturbing hits.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72384"/>
            <a:ext cx="553212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Ageing &amp; circadian biology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Age-resolved motor decline, sleep architecture and free-running period in one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90288"/>
            <a:ext cx="553212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Teaching &amp; reproducibility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 transparent, benchmarked reference implementation of standard behavioural statistics.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590288"/>
            <a:ext cx="5532120" cy="1371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14300" bIns="10160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D2137"/>
                </a:solidFill>
                <a:latin typeface="Calibri"/>
              </a:rPr>
              <a:t>Open science</a:t>
            </a:r>
          </a:p>
          <a:p>
            <a:pPr>
              <a:lnSpc>
                <a:spcPct val="103000"/>
              </a:lnSpc>
              <a:spcAft>
                <a:spcPts val="20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Free, no-login web app + open code + data templates lower the barrier for any fly lab.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5A6B7B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A6B7B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27432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From fragmented spreadsheets to one verifiable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EEF2F9"/>
                </a:solidFill>
                <a:latin typeface="Calibri"/>
              </a:rPr>
              <a:t>Six assays, one platform, </a:t>
            </a:r>
            <a:r>
              <a:rPr sz="1500" b="0" i="0">
                <a:solidFill>
                  <a:srgbClr val="EEF2F9"/>
                </a:solidFill>
                <a:latin typeface="Calibri"/>
              </a:rPr>
              <a:t>with publication-grade statistics throughout.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EEF2F9"/>
                </a:solidFill>
                <a:latin typeface="Calibri"/>
              </a:rPr>
              <a:t>A genuinely novel innovation: </a:t>
            </a:r>
            <a:r>
              <a:rPr sz="1500" b="0" i="0">
                <a:solidFill>
                  <a:srgbClr val="EEF2F9"/>
                </a:solidFill>
                <a:latin typeface="Calibri"/>
              </a:rPr>
              <a:t>actuarial, unequal-N cross-strain compound ranking (19.9% more efficient than naive averaging).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EEF2F9"/>
                </a:solidFill>
                <a:latin typeface="Calibri"/>
              </a:rPr>
              <a:t>Validated and benchmarked: </a:t>
            </a:r>
            <a:r>
              <a:rPr sz="1500" b="0" i="0">
                <a:solidFill>
                  <a:srgbClr val="EEF2F9"/>
                </a:solidFill>
                <a:latin typeface="Calibri"/>
              </a:rPr>
              <a:t>reproduces published data and agrees with gold-standard software on 24/24 checks.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EEF2F9"/>
                </a:solidFill>
                <a:latin typeface="Calibri"/>
              </a:rPr>
              <a:t>Free and open: </a:t>
            </a:r>
            <a:r>
              <a:rPr sz="1500" b="0" i="0">
                <a:solidFill>
                  <a:srgbClr val="EEF2F9"/>
                </a:solidFill>
                <a:latin typeface="Calibri"/>
              </a:rPr>
              <a:t>drophenix.streamlit.app · GitHub · GPL-3 · manuscript prepared for Nucleic Acids Research.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900" b="1" i="0">
                <a:solidFill>
                  <a:srgbClr val="F0A500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EEF2F9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