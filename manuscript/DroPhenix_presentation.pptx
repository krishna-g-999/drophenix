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PLAIN TERMS: DroPhenix is a free website that automatically analyses experiments on fruit flies (Drosophila) — the standard cheap, fast stand-in for human brain disease. We turned six common fly tests into one reliable automated tool and added a new statistical method for comparing drugs fairly.</a:t>
            </a:r>
          </a:p>
          <a:p>
            <a:r>
              <a:t>LEAD WITH: it agrees with the world's gold-standard analysis software on 24/24 checks (perfect correlation) and reproduces published scientific data exactly.</a:t>
            </a:r>
          </a:p>
          <a:p>
            <a:r>
              <a:t>EXPERT Q: "Why flies?" — ~75% of human disease genes conserved; weeks-long lifespan; the standard first-pass ALS/PD/HD model. "Novel or a wrapper?" — both: standardises best practice AND a new ranking method.</a:t>
            </a:r>
          </a:p>
          <a:p>
            <a:r>
              <a:t>NON-SCIENTIST Q: "What does it do?" — you upload your numbers, it makes the correct graphs and statistics and ranks which drug works best. "Who is it for?" — fly labs and pre-clinical drug screening.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PLAIN TERMS: An "assay" is a standard lab test. Today each is analysed separately in spreadsheets with inconsistent statistics, and there is no fair way to combine results when strains have different numbers of flies.</a:t>
            </a:r>
          </a:p>
          <a:p>
            <a:r>
              <a:t>DEFINE: Kaplan–Meier / log-rank / Cox = the rigorous, clinical-grade ways to analyse lifespan data.</a:t>
            </a:r>
          </a:p>
          <a:p>
            <a:r>
              <a:t>EXPERT Q: "Isn't survival analysis standard?" — In clinical stats yes, but fly papers often report only median; we bring the full toolkit to the bench.</a:t>
            </a:r>
          </a:p>
          <a:p>
            <a:r>
              <a:t>NON-SCIENTIST Q: "Why does unequal numbers matter?" — Averaging a 3-person survey and a 700-person survey equally is misleading; the small noisy group distorts the answer — exactly the fly-strain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PLAIN TERMS: The full menu of modules. Six are biological tests (climbing = motor health, lifespan, Y-maze = memory, DAMS = sleep/body-clock, larval crawling, grooming) and three are analytical engines (Motor Decline Rate, trajectory clustering, and the Drug Ranking innovation).</a:t>
            </a:r>
          </a:p>
          <a:p>
            <a:r>
              <a:t>DEFINE: "negative geotaxis" = flies climb up after being tapped down; climbing measures neuromuscular health.</a:t>
            </a:r>
          </a:p>
          <a:p>
            <a:r>
              <a:t>EXPERT Q: "Do the video tools replace dedicated trackers?" — for counting and single-larva speed yes; multi-animal pose tracking is out of scope and stated.</a:t>
            </a:r>
          </a:p>
          <a:p>
            <a:r>
              <a:t>NON-SCIENTIST Q: "Why so many tests?" — different diseases hit movement, memory, sleep, or lifespan; testing across all gives a fuller, more trustworthy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PLAIN TERMS: This infographic is the assembly line. You load your data (or a video, or the built-in demo); the tool cleans and checks it; the relevant module computes the metrics; the statistics engine runs; and you get tables, figures and CSV files out.</a:t>
            </a:r>
          </a:p>
          <a:p>
            <a:r>
              <a:t>TALKING POINT: every step is deterministic — same input, same output — and inspectable; nothing is a hidden trained model.</a:t>
            </a:r>
          </a:p>
          <a:p>
            <a:r>
              <a:t>EXPERT Q: "What QC happens at parse?" — column auto-detection, format validation, duplicate/outlier flagging, standardisation to long format.</a:t>
            </a:r>
          </a:p>
          <a:p>
            <a:r>
              <a:t>NON-SCIENTIST Q: "How hard is it to use?" — upload a spreadsheet, click; the five-step flow is automatic.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PLAIN TERMS: Good statistics means choosing the RIGHT test for your data, not always the same one. Box 1: DroPhenix checks whether the data are bell-shaped (Shapiro–Wilk), whether groups vary similarly (Levene), and whether samples are big enough. Box 2: it then picks a parametric test if those hold, otherwise a non-parametric one. Box 3: it always reports the effect size, corrects for multiple comparisons, and gives a confidence interval.</a:t>
            </a:r>
          </a:p>
          <a:p>
            <a:r>
              <a:t>DEFINE: effect size = how big the difference is; FDR correction = a safeguard against flukes when testing many things; bootstrap CI = a reliability range from resampling.</a:t>
            </a:r>
          </a:p>
          <a:p>
            <a:r>
              <a:t>EXPERT Q: "Thresholds?" — Shapiro/Levene at 0.05, minimum n=5 for parametric.</a:t>
            </a:r>
          </a:p>
          <a:p>
            <a:r>
              <a:t>NON-SCIENTIST Q: "Why care?" — it's the difference between a result that survives peer review / due-diligence and one that doesn't.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PLAIN TERMS: The climbing test. Flies are tapped to the bottom and instinctively climb; we measure the fraction that climb past a line over seconds. The Performance Index (PI) scales this from −100 (none) to +100 (all). AUC and t50 summarise the speed of climbing.</a:t>
            </a:r>
          </a:p>
          <a:p>
            <a:r>
              <a:t>DEFINE: PI = 2×(% climbed) − 100.</a:t>
            </a:r>
          </a:p>
          <a:p>
            <a:r>
              <a:t>EXPERT Q: "What are CRI/SDQ/TSW?" — composite rescue, sex-dimorphism and disease-selectivity indices layered on PI/AUC/t50.</a:t>
            </a:r>
          </a:p>
          <a:p>
            <a:r>
              <a:t>NON-SCIENTIST Q: "What does the output look like?" — a table of scores per group plus climbing curves, downloadable as CSV and 300-dpi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PLAIN TERMS: The lifespan test. We track how long flies live, correctly handling those still alive at the end (censoring). Kaplan–Meier draws the survival curve; the log-rank test asks if two groups differ; Cox gives a hazard ratio — how many times higher the risk of death is.</a:t>
            </a:r>
          </a:p>
          <a:p>
            <a:r>
              <a:t>DEFINE: hazard ratio = relative risk of death between groups.</a:t>
            </a:r>
          </a:p>
          <a:p>
            <a:r>
              <a:t>EXPERT Q: "Median convention and ties?" — smallest t with S(t)≤0.5 (R/Prism), Breslow ties for Cox.</a:t>
            </a:r>
          </a:p>
          <a:p>
            <a:r>
              <a:t>NON-SCIENTIST Q: "How do we know it's right?" — it reproduces the famous 1963 leukemia trial's published numbers exactly and matches R and lifelines.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PLAIN TERMS: The memory/behaviour test. In a Y-shaped maze a healthy fly tends to explore the arm it visited least recently (spontaneous alternation) — a working-memory read-out. We also measure left/right handedness and how individual flies differ.</a:t>
            </a:r>
          </a:p>
          <a:p>
            <a:r>
              <a:t>DEFINE: alternation % vs a 50% chance level; turn bias = fraction of right turns.</a:t>
            </a:r>
          </a:p>
          <a:p>
            <a:r>
              <a:t>EXPERT Q: "Why is 50% the chance level?" — under the arm geometry an alternation equals two same-direction turns, so an unbiased fly alternates at exactly 50% — it emerges from the model, not assumed.</a:t>
            </a:r>
          </a:p>
          <a:p>
            <a:r>
              <a:t>NON-SCIENTIST Q: "What does a low score mean?" — poorer working memory, e.g. in a disease or drug-impaired fly.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PLAIN TERMS: The sleep and body-clock test, from minute-by-minute activity. A fly is "asleep" after 5 minutes of no movement (the field standard). The circadian period (near 24 h) is found with a periodogram — a method that detects the dominant rhythm in the data.</a:t>
            </a:r>
          </a:p>
          <a:p>
            <a:r>
              <a:t>DEFINE: free-running period = the internal clock length in constant darkness.</a:t>
            </a:r>
          </a:p>
          <a:p>
            <a:r>
              <a:t>EXPERT Q: "Multiplicity control?" — Bonferroni across tested periods; 0% false positives on rhythm-free data; Lomb–Scargle cross-check.</a:t>
            </a:r>
          </a:p>
          <a:p>
            <a:r>
              <a:t>NON-SCIENTIST Q: "Proof it works?" — it recovers the classic mutant clock periods 24/19/28 h and agrees with two other clock 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PLAIN TERMS: The larval movement test. From a video we track a single larva and measure how fast and how straight it crawls, in real units (mm per second) once you tell it the pixels-per-millimetre scale.</a:t>
            </a:r>
          </a:p>
          <a:p>
            <a:r>
              <a:t>DEFINE: tortuosity = how winding the path is (1 = straight line).</a:t>
            </a:r>
          </a:p>
          <a:p>
            <a:r>
              <a:t>EXPERT Q: "Detection method?" — largest dark object per frame by Otsu thresholding; no training.</a:t>
            </a:r>
          </a:p>
          <a:p>
            <a:r>
              <a:t>NON-SCIENTIST Q: "How accurate?" — on a test video with a known speed it recovers 4.472 mm/s exactly; wild-type larvae are ≈1 mm/s.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PLAIN TERMS: The grooming test. Flies clean themselves; we quantify what fraction of the observation time they spend grooming and the number and length of grooming bouts, from scored start/stop times.</a:t>
            </a:r>
          </a:p>
          <a:p>
            <a:r>
              <a:t>EXPERT Q: "Does it detect grooming from raw video?" — no; automated behaviour classification is a separate ML problem; we analyse the scored intervals, which is the standard output.</a:t>
            </a:r>
          </a:p>
          <a:p>
            <a:r>
              <a:t>NON-SCIENTIST Q: "Reference value?" — healthy flies groom ≈13% of the time (Qiao 2018), which our demo reproduces.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PLAIN TERMS: Motor Decline Rate measures how fast climbing worsens with AGE — a progression read-out. We fit an exponential-decay curve to Performance Index versus age and read off the decline rate k; a drug that slows decline lowers k.</a:t>
            </a:r>
          </a:p>
          <a:p>
            <a:r>
              <a:t>KEY POINT: decline is over days of age, NOT the seconds within a single climbing test (where flies are rising) — conflating the two is a common error we deliberately avoid.</a:t>
            </a:r>
          </a:p>
          <a:p>
            <a:r>
              <a:t>EXPERT Q: "What if it doesn't fit?" — a linear fallback and an R² are reported.</a:t>
            </a:r>
          </a:p>
          <a:p>
            <a:r>
              <a:t>NON-SCIENTIST Q: "Why is this better than a single score?" — it captures disease PROGRESSION and slowing, not just a snapshot.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PLAIN TERMS: Trajectory clustering automatically groups response curves that behave similarly — for example separating 'keeps declining' from 'stays healthy' — without being told the labels in advance.</a:t>
            </a:r>
          </a:p>
          <a:p>
            <a:r>
              <a:t>DEFINE: DTW (dynamic time warping) = a way to measure how similar two time-curves are even if shifted.</a:t>
            </a:r>
          </a:p>
          <a:p>
            <a:r>
              <a:t>EXPERT Q: "How is k chosen?" — silhouette-optimal over Ward-linkage clustering.</a:t>
            </a:r>
          </a:p>
          <a:p>
            <a:r>
              <a:t>NON-SCIENTIST Q: "What is it for?" — spotting distinct response patterns in a screen at a glance.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PLAIN TERMS — THE INNOVATION: How do you fairly combine a drug's effect across several fly strains of DIFFERENT sizes into one score? We borrow medical meta-analysis. Each strain's effect (Hedges' g) is weighted by its reliability (inverse of its variance): bigger, cleaner strains count more; small noisy ones count less but aren't discarded. These combine across strains and then across all assays into one Therapeutic Score.</a:t>
            </a:r>
          </a:p>
          <a:p>
            <a:r>
              <a:t>DEFINE: Hedges' g = standardised effect size; inverse-variance / DerSimonian–Laird = the optimal weighting recipe; I² = how much strains genuinely differ.</a:t>
            </a:r>
          </a:p>
          <a:p>
            <a:r>
              <a:t>PROOF: in 3,000 simulations it was 19.9% more accurate than simple averaging with correctly-calibrated confidence intervals (95.8%), and the maths matches statsmodels to six decimals.</a:t>
            </a:r>
          </a:p>
          <a:p>
            <a:r>
              <a:t>EXPERT Q: "Why random-effects?" — to account for real strain-to-strain heterogeneity.</a:t>
            </a:r>
          </a:p>
          <a:p>
            <a:r>
              <a:t>NON-SCIENTIST Q: "Business value?" — fewer wrong drug bets carried forward — real money saved.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PLAIN TERMS: We tested the tool three independent ways. (1) Published benchmark data — reproduce a paper's exact answer. (2) Analytic ground truth — feed in data whose correct answer we built in, and check it comes back out. (3) Reference datasets — ≥3 per assay tied to cited literature. A fourth check compares against seven trusted tools.</a:t>
            </a:r>
          </a:p>
          <a:p>
            <a:r>
              <a:t>EXPERT Q: "Which pillar is strongest?" — analytic ground truth for exactness, published data for real-world validity; together they cover both.</a:t>
            </a:r>
          </a:p>
          <a:p>
            <a:r>
              <a:t>NON-SCIENTIST Q: "In plain words?" — we checked it against textbook answers, against puzzles with known solutions, and against other trusted programs — and it passed all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PLAIN TERMS: Where the test data came from, and honesty about it. Real raw data (a famous 1963 survival trial; a classic stats dataset) is used directly. Real published parameters (the classic clock periods) drive some signals. Some data is generated with a known answer to test exactness. The rest are example datasets calibrated to cited published numbers and clearly labelled 'simulated'.</a:t>
            </a:r>
          </a:p>
          <a:p>
            <a:r>
              <a:t>KEY POINT: we never present a simulation as if it were real measured data.</a:t>
            </a:r>
          </a:p>
          <a:p>
            <a:r>
              <a:t>EXPERT Q: "Why not pull every raw supplement?" — many are binary files on repositories not machine-readable in our environment; rather than fabricate, we cite parameters and label them.</a:t>
            </a:r>
          </a:p>
          <a:p>
            <a:r>
              <a:t>NON-SCIENTIST Q: "How do I know it's not cherry-picked?" — every dataset lists its source and 18/18 reproduce the published expectation.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PLAIN TERMS: A common worry is that developers tweak settings until the tool looks good. We did the opposite — every key setting comes straight from the literature, with a citation. A fly counts as asleep after 5 minutes still; chance memory is 50%; the reference clock periods are 24/19/28 h.</a:t>
            </a:r>
          </a:p>
          <a:p>
            <a:r>
              <a:t>EXPERT Q: "Periodogram multiplicity?" — Bonferroni-corrected; verified 0% false positives on rhythm-free data.</a:t>
            </a:r>
          </a:p>
          <a:p>
            <a:r>
              <a:t>NON-SCIENTIST Q: "One-sentence reassurance?" — we didn't invent the settings; they are the community's own published standards.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PLAIN TERMS: The evidence the tool is correct. Twelve automated test suites all pass. On famous datasets it returns the exact published numbers — the 1963 trial's log-rank (16.79) and hazard ratio (4.52). The six-panel figure shows one real result from each area.</a:t>
            </a:r>
          </a:p>
          <a:p>
            <a:r>
              <a:t>EXPERT Q: "Live or hard-coded?" — live; rerun run_all.py to reproduce.</a:t>
            </a:r>
          </a:p>
          <a:p>
            <a:r>
              <a:t>NON-SCIENTIST Q: "What does 12/12 mean?" — twelve independent accuracy inspections, all passed.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PLAIN TERMS: Beyond matching papers, we ran the SAME data through seven independent, world-standard programs (including R, used across academia and pharma) and compared every number: perfect agreement (r = 1.0000) — every point sits on the diagonal.</a:t>
            </a:r>
          </a:p>
          <a:p>
            <a:r>
              <a:t>EXPERT Q: "The one Cox difference (4.52 vs 4.82)?" — the known Breslow-vs-Efron tie method, not an error; our Breslow matches R's Breslow to five figures; reported transparently.</a:t>
            </a:r>
          </a:p>
          <a:p>
            <a:r>
              <a:t>NON-SCIENTIST Q: "Why compare if yours is new?" — to prove we didn't reinvent the wheel wrongly; matching trusted tools is the strongest reassurance.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PLAIN TERMS: We also built three literature-referenced datasets for EACH assay (18 total) in the exact upload format, and ran them through the tool: all 18 reproduce their cited published expectation — wild-type outperforms disease models and drugs partially rescue, exactly as the literature reports.</a:t>
            </a:r>
          </a:p>
          <a:p>
            <a:r>
              <a:t>EXPERT Q: "Are these downloadable?" — yes, in each module's template, with provenance and results files.</a:t>
            </a:r>
          </a:p>
          <a:p>
            <a:r>
              <a:t>NON-SCIENTIST Q: "Why does this matter?" — it shows the tool gives sensible, literature-consistent answers on realistic data, not just toy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PLAIN TERMS: What you actually get out. On-screen sortable tables; one-click CSV downloads; publication-quality 300-dpi figures; a full statistics report (test, p-value, effect size, confidence interval); the drug ranking; and a single ZIP bundle ready for a journal submission.</a:t>
            </a:r>
          </a:p>
          <a:p>
            <a:r>
              <a:t>EXPERT Q: "Figure formats?" — PNG/SVG/PDF at 300 dpi, colour-blind-safe palette.</a:t>
            </a:r>
          </a:p>
          <a:p>
            <a:r>
              <a:t>NON-SCIENTIST Q: "Can I put these straight in a paper or report?" — yes, that is the design goal.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PLAIN TERMS: Five concrete reasons to trust it: it reproduces published results; it agrees with gold-standard software; it uses the correct method by design; anyone can rerun and verify every number; and we are explicit about every limitation.</a:t>
            </a:r>
          </a:p>
          <a:p>
            <a:r>
              <a:t>EXPERT Q: "Reproducibility mechanism?" — fixed random seeds plus the shipped validation/comparison suite.</a:t>
            </a:r>
          </a:p>
          <a:p>
            <a:r>
              <a:t>NON-SCIENTIST Q: "What if it's ever wrong?" — because it's transparent and benchmarked, any discrepancy is visible and traceable — unlike a black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PLAIN TERMS: Where it helps. The biggest use is brain-disease drug screening — judging a compound fairly across several fly disease models and several tests at once. It also serves ageing/clock research, teaching rigorous statistics, and open reproducible science.</a:t>
            </a:r>
          </a:p>
          <a:p>
            <a:r>
              <a:t>COMMERCIAL ANGLE: a fairer, more accurate candidate ranking means fewer false leads advanced — lower downstream cost; and it's free and browser-based, so adoption cost is near zero.</a:t>
            </a:r>
          </a:p>
          <a:p>
            <a:r>
              <a:t>EXPERT Q: "Can it take my lab's data?" — yes; documented templates match common bench outputs.</a:t>
            </a:r>
          </a:p>
          <a:p>
            <a:r>
              <a:t>NON-SCIENTIST Q: "Path to impact/revenue?" — adoption by fly labs and pre-clinical CROs; a validated core that can underpin paid hosted or extended versions.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PLAIN TERMS: The takeaway — six scattered, manually-analysed fly experiments turned into one automated, rigorously-validated web tool, plus a genuinely new, more efficient way to rank drugs across unequal-sized strains. Free, open, and prepared for a leading journal.</a:t>
            </a:r>
          </a:p>
          <a:p>
            <a:r>
              <a:t>CLOSE ON: reliable (24/24 tool agreement, reproduces published data) + novel (19.9% more efficient ranking) + accessible (free web app).</a:t>
            </a:r>
          </a:p>
          <a:p>
            <a:r>
              <a:t>FINAL Qs: Expert — "what's next?" more assays, hosted deployment. Non-scientist — "how do I try it?" open drophenix.streamlit.app; no install, no login.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47088"/>
            <a:ext cx="12191695" cy="27432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66928"/>
            <a:ext cx="106070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1300" b="1" i="0">
                <a:solidFill>
                  <a:srgbClr val="F0A500"/>
                </a:solidFill>
                <a:latin typeface="Calibri"/>
              </a:rPr>
              <a:t>SCIENCE FOR SOCIETY  ·  SSSIHL  ·  SAI-NET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60704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4600" b="1" i="0">
                <a:solidFill>
                  <a:srgbClr val="FFFFFF"/>
                </a:solidFill>
                <a:latin typeface="Calibri"/>
              </a:rPr>
              <a:t>DroPhenix </a:t>
            </a:r>
            <a:r>
              <a:rPr sz="4600" b="1" i="0">
                <a:solidFill>
                  <a:srgbClr val="F0A500"/>
                </a:solidFill>
                <a:latin typeface="Calibri"/>
              </a:rPr>
              <a:t>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93392"/>
            <a:ext cx="106984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1700" b="0" i="0">
                <a:solidFill>
                  <a:srgbClr val="ECF1F8"/>
                </a:solidFill>
                <a:latin typeface="Calibri"/>
              </a:rPr>
              <a:t>A statistically rigorous web platform for multi-assay Drosophila phenotyping and actuarial cross-strain compound ranking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37560"/>
            <a:ext cx="2468880" cy="658368"/>
          </a:xfrm>
          <a:prstGeom prst="rect">
            <a:avLst/>
          </a:prstGeom>
          <a:noFill/>
        </p:spPr>
        <p:txBody>
          <a:bodyPr wrap="square" anchor="b" lIns="38100" rIns="38100" tIns="25400" bIns="25400">
            <a:spAutoFit/>
          </a:bodyPr>
          <a:lstStyle/>
          <a:p>
            <a:pPr algn="ctr"/>
            <a:r>
              <a:rPr sz="3600" b="1" i="0">
                <a:solidFill>
                  <a:srgbClr val="F0A500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014216"/>
            <a:ext cx="2468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biological assays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3337560"/>
            <a:ext cx="2468880" cy="658368"/>
          </a:xfrm>
          <a:prstGeom prst="rect">
            <a:avLst/>
          </a:prstGeom>
          <a:noFill/>
        </p:spPr>
        <p:txBody>
          <a:bodyPr wrap="square" anchor="b" lIns="38100" rIns="38100" tIns="25400" bIns="25400">
            <a:spAutoFit/>
          </a:bodyPr>
          <a:lstStyle/>
          <a:p>
            <a:pPr algn="ctr"/>
            <a:r>
              <a:rPr sz="3600" b="1" i="0">
                <a:solidFill>
                  <a:srgbClr val="F0A500"/>
                </a:solidFill>
                <a:latin typeface="Calibri"/>
              </a:rPr>
              <a:t>24/24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4014216"/>
            <a:ext cx="2468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tool checks agree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3337560"/>
            <a:ext cx="2468880" cy="658368"/>
          </a:xfrm>
          <a:prstGeom prst="rect">
            <a:avLst/>
          </a:prstGeom>
          <a:noFill/>
        </p:spPr>
        <p:txBody>
          <a:bodyPr wrap="square" anchor="b" lIns="38100" rIns="38100" tIns="25400" bIns="25400">
            <a:spAutoFit/>
          </a:bodyPr>
          <a:lstStyle/>
          <a:p>
            <a:pPr algn="ctr"/>
            <a:r>
              <a:rPr sz="3600" b="1" i="0">
                <a:solidFill>
                  <a:srgbClr val="F0A500"/>
                </a:solidFill>
                <a:latin typeface="Calibri"/>
              </a:rPr>
              <a:t>r = 1.0000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014216"/>
            <a:ext cx="2468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vs gold-standard software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6840" y="3337560"/>
            <a:ext cx="2468880" cy="658368"/>
          </a:xfrm>
          <a:prstGeom prst="rect">
            <a:avLst/>
          </a:prstGeom>
          <a:noFill/>
        </p:spPr>
        <p:txBody>
          <a:bodyPr wrap="square" anchor="b" lIns="38100" rIns="38100" tIns="25400" bIns="25400">
            <a:spAutoFit/>
          </a:bodyPr>
          <a:lstStyle/>
          <a:p>
            <a:pPr algn="ctr"/>
            <a:r>
              <a:rPr sz="3600" b="1" i="0">
                <a:solidFill>
                  <a:srgbClr val="F0A500"/>
                </a:solidFill>
                <a:latin typeface="Calibri"/>
              </a:rPr>
              <a:t>18/18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6840" y="4014216"/>
            <a:ext cx="246888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reference datasets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806440"/>
            <a:ext cx="106984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1300" b="0" i="0">
                <a:solidFill>
                  <a:srgbClr val="ECF1F8"/>
                </a:solidFill>
                <a:latin typeface="Calibri"/>
              </a:rPr>
              <a:t>Krishnasalini Gunanathan  ·  Venketesh Sivaramakrishnan   |   Dept. of Biosciences, SSSIHL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37376"/>
            <a:ext cx="111556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900" b="1" i="0">
                <a:solidFill>
                  <a:srgbClr val="F0A500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ECF1F8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6583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2700" b="1" i="0">
                <a:solidFill>
                  <a:srgbClr val="0D2137"/>
                </a:solidFill>
                <a:latin typeface="Calibri"/>
              </a:rPr>
              <a:t>The problem we set out to solve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852160" cy="45720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>
              <a:lnSpc>
                <a:spcPct val="104000"/>
              </a:lnSpc>
              <a:spcAft>
                <a:spcPts val="1300"/>
              </a:spcAft>
            </a:pPr>
            <a:r>
              <a:rPr sz="1450" b="1" i="0">
                <a:solidFill>
                  <a:srgbClr val="F0A500"/>
                </a:solidFill>
                <a:latin typeface="Calibri"/>
              </a:rPr>
              <a:t>▪  </a:t>
            </a:r>
            <a:r>
              <a:rPr sz="1450" b="1" i="0">
                <a:solidFill>
                  <a:srgbClr val="1E2933"/>
                </a:solidFill>
                <a:latin typeface="Calibri"/>
              </a:rPr>
              <a:t>Fragmented analysis. </a:t>
            </a:r>
            <a:r>
              <a:rPr sz="1450" b="0" i="0">
                <a:solidFill>
                  <a:srgbClr val="1E2933"/>
                </a:solidFill>
                <a:latin typeface="Calibri"/>
              </a:rPr>
              <a:t>Six standard Drosophila assays are analysed separately, often by hand in spreadsheets, with inconsistent statistics.</a:t>
            </a:r>
          </a:p>
          <a:p>
            <a:pPr>
              <a:lnSpc>
                <a:spcPct val="104000"/>
              </a:lnSpc>
              <a:spcAft>
                <a:spcPts val="1300"/>
              </a:spcAft>
            </a:pPr>
            <a:r>
              <a:rPr sz="1450" b="1" i="0">
                <a:solidFill>
                  <a:srgbClr val="F0A500"/>
                </a:solidFill>
                <a:latin typeface="Calibri"/>
              </a:rPr>
              <a:t>▪  </a:t>
            </a:r>
            <a:r>
              <a:rPr sz="1450" b="1" i="0">
                <a:solidFill>
                  <a:srgbClr val="1E2933"/>
                </a:solidFill>
                <a:latin typeface="Calibri"/>
              </a:rPr>
              <a:t>Under-powered methods. </a:t>
            </a:r>
            <a:r>
              <a:rPr sz="1450" b="0" i="0">
                <a:solidFill>
                  <a:srgbClr val="1E2933"/>
                </a:solidFill>
                <a:latin typeface="Calibri"/>
              </a:rPr>
              <a:t>Climbing reduced to one endpoint %; lifespan reported as median only, omitting Kaplan–Meier, log-rank and Cox; periodograms uncorrected for multiplicity.</a:t>
            </a:r>
          </a:p>
          <a:p>
            <a:pPr>
              <a:lnSpc>
                <a:spcPct val="104000"/>
              </a:lnSpc>
              <a:spcAft>
                <a:spcPts val="1300"/>
              </a:spcAft>
            </a:pPr>
            <a:r>
              <a:rPr sz="1450" b="1" i="0">
                <a:solidFill>
                  <a:srgbClr val="F0A500"/>
                </a:solidFill>
                <a:latin typeface="Calibri"/>
              </a:rPr>
              <a:t>▪  </a:t>
            </a:r>
            <a:r>
              <a:rPr sz="1450" b="1" i="0">
                <a:solidFill>
                  <a:srgbClr val="1E2933"/>
                </a:solidFill>
                <a:latin typeface="Calibri"/>
              </a:rPr>
              <a:t>No unequal-N method. </a:t>
            </a:r>
            <a:r>
              <a:rPr sz="1450" b="0" i="0">
                <a:solidFill>
                  <a:srgbClr val="1E2933"/>
                </a:solidFill>
                <a:latin typeface="Calibri"/>
              </a:rPr>
              <a:t>When one strain has 3 vials and another 7, equal-weight averaging is biased toward the smaller, noisier strain — the everyday screening case.</a:t>
            </a:r>
          </a:p>
          <a:p>
            <a:pPr>
              <a:lnSpc>
                <a:spcPct val="104000"/>
              </a:lnSpc>
              <a:spcAft>
                <a:spcPts val="1300"/>
              </a:spcAft>
            </a:pPr>
            <a:r>
              <a:rPr sz="1450" b="1" i="0">
                <a:solidFill>
                  <a:srgbClr val="F0A500"/>
                </a:solidFill>
                <a:latin typeface="Calibri"/>
              </a:rPr>
              <a:t>▪  </a:t>
            </a:r>
            <a:r>
              <a:rPr sz="1450" b="1" i="0">
                <a:solidFill>
                  <a:srgbClr val="1E2933"/>
                </a:solidFill>
                <a:latin typeface="Calibri"/>
              </a:rPr>
              <a:t>Verifiability gap. </a:t>
            </a:r>
            <a:r>
              <a:rPr sz="1450" b="0" i="0">
                <a:solidFill>
                  <a:srgbClr val="1E2933"/>
                </a:solidFill>
                <a:latin typeface="Calibri"/>
              </a:rPr>
              <a:t>Results are rarely benchmarked against published data or gold-standard software.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20840" y="1691640"/>
            <a:ext cx="4937760" cy="4114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F0A500"/>
                </a:solidFill>
                <a:latin typeface="Calibri"/>
              </a:rPr>
              <a:t>The unmet need — one workflow that: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300" b="0" i="0">
                <a:solidFill>
                  <a:srgbClr val="1E2933"/>
                </a:solidFill>
                <a:latin typeface="Calibri"/>
              </a:rPr>
              <a:t>unifies all six assays,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300" b="0" i="0">
                <a:solidFill>
                  <a:srgbClr val="1E2933"/>
                </a:solidFill>
                <a:latin typeface="Calibri"/>
              </a:rPr>
              <a:t>applies correct, assumption-aware statistics,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300" b="0" i="0">
                <a:solidFill>
                  <a:srgbClr val="1E2933"/>
                </a:solidFill>
                <a:latin typeface="Calibri"/>
              </a:rPr>
              <a:t>handles unequal-N strain comparison rigorously,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300" b="0" i="0">
                <a:solidFill>
                  <a:srgbClr val="1E2933"/>
                </a:solidFill>
                <a:latin typeface="Calibri"/>
              </a:rPr>
              <a:t>reports publication-ready tables + figures, and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300" b="0" i="0">
                <a:solidFill>
                  <a:srgbClr val="1E2933"/>
                </a:solidFill>
                <a:latin typeface="Calibri"/>
              </a:rPr>
              <a:t>can be independently verified — not merely trusted.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300" b="0" i="0">
                <a:solidFill>
                  <a:srgbClr val="1E2933"/>
                </a:solidFill>
                <a:latin typeface="Calibri"/>
              </a:rPr>
              <a:t/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300" b="0" i="0">
                <a:solidFill>
                  <a:srgbClr val="1E2933"/>
                </a:solidFill>
                <a:latin typeface="Calibri"/>
              </a:rPr>
              <a:t>DroPhenix was built to meet every one of these.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37376"/>
            <a:ext cx="111556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900" b="1" i="0">
                <a:solidFill>
                  <a:srgbClr val="546678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46678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6583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2700" b="1" i="0">
                <a:solidFill>
                  <a:srgbClr val="0D2137"/>
                </a:solidFill>
                <a:latin typeface="Calibri"/>
              </a:rPr>
              <a:t>What we developed: six assays + three analytical engines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3657600" cy="1371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Climbing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Negative geotaxis: PI, AUC, t50; video counting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481328"/>
            <a:ext cx="3657600" cy="1371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Lifespan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Kaplan–Meier · log-rank · Cox proportional hazards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1481328"/>
            <a:ext cx="3657600" cy="1371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Y-maze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Spontaneous alternation; turn-bias / handedness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99232"/>
            <a:ext cx="3657600" cy="1371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DAMS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Sleep (5-min rule) + circadian period (periodogram)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2999232"/>
            <a:ext cx="3657600" cy="1371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Larval crawling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Video tracking: speed, path, tortuosity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2999232"/>
            <a:ext cx="3657600" cy="1371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Grooming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% time grooming; bout structure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517136"/>
            <a:ext cx="3657600" cy="1371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Motor Decline Rate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Exponential decline of PI over 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4517136"/>
            <a:ext cx="3657600" cy="1371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Trajectory clustering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DTW + Ward unsupervised grouping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4517136"/>
            <a:ext cx="3657600" cy="1371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Drug Ranking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Cross-strain, cross-assay meta-analytic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37376"/>
            <a:ext cx="111556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900" b="1" i="0">
                <a:solidFill>
                  <a:srgbClr val="546678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46678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6583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2700" b="1" i="0">
                <a:solidFill>
                  <a:srgbClr val="0D2137"/>
                </a:solidFill>
                <a:latin typeface="Calibri"/>
              </a:rPr>
              <a:t>From raw data to publication-ready results — the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48840"/>
            <a:ext cx="1993392" cy="2286000"/>
          </a:xfrm>
          <a:prstGeom prst="round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127000"/>
          <a:lstStyle/>
          <a:p>
            <a:pPr algn="ctr"/>
            <a:r>
              <a:rPr sz="1500" b="1" i="0">
                <a:solidFill>
                  <a:srgbClr val="F0A500"/>
                </a:solidFill>
                <a:latin typeface="Calibri"/>
              </a:rPr>
              <a:t>1  Load</a:t>
            </a:r>
          </a:p>
          <a:p>
            <a:pPr algn="ctr">
              <a:lnSpc>
                <a:spcPct val="106000"/>
              </a:lnSpc>
              <a:spcBef>
                <a:spcPts val="600"/>
              </a:spcBef>
            </a:pPr>
            <a:r>
              <a:rPr sz="1100" b="0" i="0">
                <a:solidFill>
                  <a:srgbClr val="FFFFFF"/>
                </a:solidFill>
                <a:latin typeface="Calibri"/>
              </a:rPr>
              <a:t>Upload CSV/Excel to the module's template, or a video, or the demo dataset</a:t>
            </a:r>
          </a:p>
        </p:txBody>
      </p:sp>
      <p:sp>
        <p:nvSpPr>
          <p:cNvPr id="6" name="Chevron 5"/>
          <p:cNvSpPr/>
          <p:nvPr/>
        </p:nvSpPr>
        <p:spPr>
          <a:xfrm>
            <a:off x="2505456" y="3017520"/>
            <a:ext cx="237744" cy="548640"/>
          </a:xfrm>
          <a:prstGeom prst="chevron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52344" y="2148840"/>
            <a:ext cx="1993392" cy="22860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127000"/>
          <a:lstStyle/>
          <a:p>
            <a:pPr algn="ctr"/>
            <a:r>
              <a:rPr sz="1500" b="1" i="0">
                <a:solidFill>
                  <a:srgbClr val="0D2137"/>
                </a:solidFill>
                <a:latin typeface="Calibri"/>
              </a:rPr>
              <a:t>2  Parse &amp; QC</a:t>
            </a:r>
          </a:p>
          <a:p>
            <a:pPr algn="ctr">
              <a:lnSpc>
                <a:spcPct val="106000"/>
              </a:lnSpc>
              <a:spcBef>
                <a:spcPts val="600"/>
              </a:spcBef>
            </a:pPr>
            <a:r>
              <a:rPr sz="1100" b="0" i="0">
                <a:solidFill>
                  <a:srgbClr val="1E2933"/>
                </a:solidFill>
                <a:latin typeface="Calibri"/>
              </a:rPr>
              <a:t>Auto-detect columns, validate, flag outliers, standardise long format</a:t>
            </a:r>
          </a:p>
        </p:txBody>
      </p:sp>
      <p:sp>
        <p:nvSpPr>
          <p:cNvPr id="8" name="Chevron 7"/>
          <p:cNvSpPr/>
          <p:nvPr/>
        </p:nvSpPr>
        <p:spPr>
          <a:xfrm>
            <a:off x="4754880" y="3017520"/>
            <a:ext cx="237744" cy="548640"/>
          </a:xfrm>
          <a:prstGeom prst="chevron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01768" y="2148840"/>
            <a:ext cx="1993392" cy="22860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127000"/>
          <a:lstStyle/>
          <a:p>
            <a:pPr algn="ctr"/>
            <a:r>
              <a:rPr sz="1500" b="1" i="0">
                <a:solidFill>
                  <a:srgbClr val="0D2137"/>
                </a:solidFill>
                <a:latin typeface="Calibri"/>
              </a:rPr>
              <a:t>3  Analyse</a:t>
            </a:r>
          </a:p>
          <a:p>
            <a:pPr algn="ctr">
              <a:lnSpc>
                <a:spcPct val="106000"/>
              </a:lnSpc>
              <a:spcBef>
                <a:spcPts val="600"/>
              </a:spcBef>
            </a:pPr>
            <a:r>
              <a:rPr sz="1100" b="0" i="0">
                <a:solidFill>
                  <a:srgbClr val="1E2933"/>
                </a:solidFill>
                <a:latin typeface="Calibri"/>
              </a:rPr>
              <a:t>The module computes its metrics (see per-module slides)</a:t>
            </a:r>
          </a:p>
        </p:txBody>
      </p:sp>
      <p:sp>
        <p:nvSpPr>
          <p:cNvPr id="10" name="Chevron 9"/>
          <p:cNvSpPr/>
          <p:nvPr/>
        </p:nvSpPr>
        <p:spPr>
          <a:xfrm>
            <a:off x="7004304" y="3017520"/>
            <a:ext cx="237744" cy="548640"/>
          </a:xfrm>
          <a:prstGeom prst="chevron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51192" y="2148840"/>
            <a:ext cx="1993392" cy="22860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127000"/>
          <a:lstStyle/>
          <a:p>
            <a:pPr algn="ctr"/>
            <a:r>
              <a:rPr sz="1500" b="1" i="0">
                <a:solidFill>
                  <a:srgbClr val="0D2137"/>
                </a:solidFill>
                <a:latin typeface="Calibri"/>
              </a:rPr>
              <a:t>4  Statistics</a:t>
            </a:r>
          </a:p>
          <a:p>
            <a:pPr algn="ctr">
              <a:lnSpc>
                <a:spcPct val="106000"/>
              </a:lnSpc>
              <a:spcBef>
                <a:spcPts val="600"/>
              </a:spcBef>
            </a:pPr>
            <a:r>
              <a:rPr sz="1100" b="0" i="0">
                <a:solidFill>
                  <a:srgbClr val="1E2933"/>
                </a:solidFill>
                <a:latin typeface="Calibri"/>
              </a:rPr>
              <a:t>Assumption-gated tests, effect sizes, BH-FDR, bootstrap CI</a:t>
            </a:r>
          </a:p>
        </p:txBody>
      </p:sp>
      <p:sp>
        <p:nvSpPr>
          <p:cNvPr id="12" name="Chevron 11"/>
          <p:cNvSpPr/>
          <p:nvPr/>
        </p:nvSpPr>
        <p:spPr>
          <a:xfrm>
            <a:off x="9253728" y="3017520"/>
            <a:ext cx="237744" cy="548640"/>
          </a:xfrm>
          <a:prstGeom prst="chevron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500616" y="2148840"/>
            <a:ext cx="1993392" cy="2286000"/>
          </a:xfrm>
          <a:prstGeom prst="round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127000"/>
          <a:lstStyle/>
          <a:p>
            <a:pPr algn="ctr"/>
            <a:r>
              <a:rPr sz="1500" b="1" i="0">
                <a:solidFill>
                  <a:srgbClr val="F0A500"/>
                </a:solidFill>
                <a:latin typeface="Calibri"/>
              </a:rPr>
              <a:t>5  Output</a:t>
            </a:r>
          </a:p>
          <a:p>
            <a:pPr algn="ctr">
              <a:lnSpc>
                <a:spcPct val="106000"/>
              </a:lnSpc>
              <a:spcBef>
                <a:spcPts val="600"/>
              </a:spcBef>
            </a:pPr>
            <a:r>
              <a:rPr sz="1100" b="0" i="0">
                <a:solidFill>
                  <a:srgbClr val="FFFFFF"/>
                </a:solidFill>
                <a:latin typeface="Calibri"/>
              </a:rPr>
              <a:t>Interactive + downloadable tables, 300-dpi figures, CSV / 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846320"/>
            <a:ext cx="111556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1300" b="0" i="1">
                <a:solidFill>
                  <a:srgbClr val="546678"/>
                </a:solidFill>
                <a:latin typeface="Calibri"/>
              </a:rPr>
              <a:t>Every step is deterministic and inspectable — same input always gives the same output; nothing is a trained black box.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37376"/>
            <a:ext cx="111556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900" b="1" i="0">
                <a:solidFill>
                  <a:srgbClr val="546678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46678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STATISTICS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6583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2700" b="1" i="0">
                <a:solidFill>
                  <a:srgbClr val="0D2137"/>
                </a:solidFill>
                <a:latin typeface="Calibri"/>
              </a:rPr>
              <a:t>How the correct test is chosen — automatically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965960"/>
            <a:ext cx="3383280" cy="23774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0" lIns="127000"/>
          <a:lstStyle/>
          <a:p>
            <a:pPr algn="ctr"/>
            <a:r>
              <a:rPr sz="1400" b="1" i="0">
                <a:solidFill>
                  <a:srgbClr val="0D2137"/>
                </a:solidFill>
                <a:latin typeface="Calibri"/>
              </a:rPr>
              <a:t>1  Check assumptions</a:t>
            </a:r>
          </a:p>
          <a:p>
            <a:pPr>
              <a:spcBef>
                <a:spcPts val="500"/>
              </a:spcBef>
            </a:pPr>
            <a:r>
              <a:rPr sz="1200" b="0" i="0">
                <a:solidFill>
                  <a:srgbClr val="1E2933"/>
                </a:solidFill>
                <a:latin typeface="Calibri"/>
              </a:rPr>
              <a:t>• Shapiro–Wilk test → normal?</a:t>
            </a:r>
          </a:p>
          <a:p>
            <a:pPr>
              <a:spcBef>
                <a:spcPts val="500"/>
              </a:spcBef>
            </a:pPr>
            <a:r>
              <a:rPr sz="1200" b="0" i="0">
                <a:solidFill>
                  <a:srgbClr val="1E2933"/>
                </a:solidFill>
                <a:latin typeface="Calibri"/>
              </a:rPr>
              <a:t>• Levene test → equal variance?</a:t>
            </a:r>
          </a:p>
          <a:p>
            <a:pPr>
              <a:spcBef>
                <a:spcPts val="500"/>
              </a:spcBef>
            </a:pPr>
            <a:r>
              <a:rPr sz="1200" b="0" i="0">
                <a:solidFill>
                  <a:srgbClr val="1E2933"/>
                </a:solidFill>
                <a:latin typeface="Calibri"/>
              </a:rPr>
              <a:t>• group size n ≥ 5?</a:t>
            </a:r>
          </a:p>
        </p:txBody>
      </p:sp>
      <p:sp>
        <p:nvSpPr>
          <p:cNvPr id="6" name="Chevron 5"/>
          <p:cNvSpPr/>
          <p:nvPr/>
        </p:nvSpPr>
        <p:spPr>
          <a:xfrm>
            <a:off x="3931920" y="2880360"/>
            <a:ext cx="365760" cy="548640"/>
          </a:xfrm>
          <a:prstGeom prst="chevron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34840" y="1965960"/>
            <a:ext cx="3383280" cy="23774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0" lIns="127000"/>
          <a:lstStyle/>
          <a:p>
            <a:pPr algn="ctr"/>
            <a:r>
              <a:rPr sz="1400" b="1" i="0">
                <a:solidFill>
                  <a:srgbClr val="0D2137"/>
                </a:solidFill>
                <a:latin typeface="Calibri"/>
              </a:rPr>
              <a:t>2  Select test</a:t>
            </a:r>
          </a:p>
          <a:p>
            <a:pPr>
              <a:spcBef>
                <a:spcPts val="400"/>
              </a:spcBef>
            </a:pPr>
            <a:r>
              <a:rPr sz="1150" b="1" i="0">
                <a:solidFill>
                  <a:srgbClr val="0B845F"/>
                </a:solidFill>
                <a:latin typeface="Calibri"/>
              </a:rPr>
              <a:t>All pass → parametric:</a:t>
            </a:r>
          </a:p>
          <a:p>
            <a:pPr>
              <a:spcBef>
                <a:spcPts val="400"/>
              </a:spcBef>
            </a:pPr>
            <a:r>
              <a:rPr sz="1150" b="0" i="0">
                <a:solidFill>
                  <a:srgbClr val="1E2933"/>
                </a:solidFill>
                <a:latin typeface="Calibri"/>
              </a:rPr>
              <a:t>Welch t / one-way ANOVA</a:t>
            </a:r>
          </a:p>
          <a:p>
            <a:pPr>
              <a:spcBef>
                <a:spcPts val="400"/>
              </a:spcBef>
            </a:pPr>
            <a:r>
              <a:rPr sz="1150" b="1" i="0">
                <a:solidFill>
                  <a:srgbClr val="0E6F8A"/>
                </a:solidFill>
                <a:latin typeface="Calibri"/>
              </a:rPr>
              <a:t>Otherwise → non-parametric:</a:t>
            </a:r>
          </a:p>
          <a:p>
            <a:pPr>
              <a:spcBef>
                <a:spcPts val="400"/>
              </a:spcBef>
            </a:pPr>
            <a:r>
              <a:rPr sz="1150" b="0" i="0">
                <a:solidFill>
                  <a:srgbClr val="1E2933"/>
                </a:solidFill>
                <a:latin typeface="Calibri"/>
              </a:rPr>
              <a:t>Mann–Whitney U / Kruskal–Wallis</a:t>
            </a:r>
          </a:p>
        </p:txBody>
      </p:sp>
      <p:sp>
        <p:nvSpPr>
          <p:cNvPr id="8" name="Chevron 7"/>
          <p:cNvSpPr/>
          <p:nvPr/>
        </p:nvSpPr>
        <p:spPr>
          <a:xfrm>
            <a:off x="7863840" y="2880360"/>
            <a:ext cx="365760" cy="548640"/>
          </a:xfrm>
          <a:prstGeom prst="chevron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366760" y="1965960"/>
            <a:ext cx="3319272" cy="2377440"/>
          </a:xfrm>
          <a:prstGeom prst="round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0" lIns="127000"/>
          <a:lstStyle/>
          <a:p>
            <a:pPr algn="ctr"/>
            <a:r>
              <a:rPr sz="1400" b="1" i="0">
                <a:solidFill>
                  <a:srgbClr val="F0A500"/>
                </a:solidFill>
                <a:latin typeface="Calibri"/>
              </a:rPr>
              <a:t>3  Report</a:t>
            </a:r>
          </a:p>
          <a:p>
            <a:pPr>
              <a:spcBef>
                <a:spcPts val="600"/>
              </a:spcBef>
            </a:pPr>
            <a:r>
              <a:rPr sz="1200" b="0" i="0">
                <a:solidFill>
                  <a:srgbClr val="FFFFFF"/>
                </a:solidFill>
                <a:latin typeface="Calibri"/>
              </a:rPr>
              <a:t>• Effect size (Cohen d / Hedges g)</a:t>
            </a:r>
          </a:p>
          <a:p>
            <a:pPr>
              <a:spcBef>
                <a:spcPts val="600"/>
              </a:spcBef>
            </a:pPr>
            <a:r>
              <a:rPr sz="1200" b="0" i="0">
                <a:solidFill>
                  <a:srgbClr val="FFFFFF"/>
                </a:solidFill>
                <a:latin typeface="Calibri"/>
              </a:rPr>
              <a:t>• Benjamini–Hochberg FDR correction</a:t>
            </a:r>
          </a:p>
          <a:p>
            <a:pPr>
              <a:spcBef>
                <a:spcPts val="600"/>
              </a:spcBef>
            </a:pPr>
            <a:r>
              <a:rPr sz="1200" b="0" i="0">
                <a:solidFill>
                  <a:srgbClr val="FFFFFF"/>
                </a:solidFill>
                <a:latin typeface="Calibri"/>
              </a:rPr>
              <a:t>• Bootstrap 95% confidence interval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709160"/>
            <a:ext cx="1115568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1350" b="0" i="0">
                <a:solidFill>
                  <a:srgbClr val="1E2933"/>
                </a:solidFill>
                <a:latin typeface="Calibri"/>
              </a:rPr>
              <a:t>Why: small, noisy behavioural data breaks a one-size-fits-all ANOVA. Gating the test on its assumptions, forcing effect sizes, and controlling the false-discovery rate is what makes a result survive peer review.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37376"/>
            <a:ext cx="111556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900" b="1" i="0">
                <a:solidFill>
                  <a:srgbClr val="546678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46678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MODULE 1 · CLIMBING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6583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2700" b="1" i="0">
                <a:solidFill>
                  <a:srgbClr val="0D2137"/>
                </a:solidFill>
                <a:latin typeface="Calibri"/>
              </a:rPr>
              <a:t>Climbing assay (negative geotaxis)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E6F8A"/>
                </a:solidFill>
                <a:latin typeface="Calibri"/>
              </a:rPr>
              <a:t>What it measures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Neuromuscular health: how well flies climb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upward over seconds after being tapped down.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The primary motor read-out in fly models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of ALS, Parkinson's and Huntington's.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5352" y="1481328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F0A500"/>
                </a:solidFill>
                <a:latin typeface="Calibri"/>
              </a:rPr>
              <a:t>How it calculates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Pct = 100 · climbed / total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PI  = 2 · Pct − 100     (range −100…+100)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AUC = trapezoid of %-climbed vs time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t50 = interpolated time to reach 50%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+ CRI, SDQ, TSW composite rescue metrics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67327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Input  →  Output format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IN: long CSV — Genotype, Treatment, Sex,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     Replicate, Time, Count_climbed, n_total_flies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     (or an .mp4 video → per-vial fly counts)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OUT: PI/AUC/t50 tables, climbing curves (mean±SEM),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     CSV export, 300-dpi figures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3767327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B845F"/>
                </a:solidFill>
                <a:latin typeface="Calibri"/>
              </a:rPr>
              <a:t>How we validated  →  result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PI formula exact; on 3 disease-model datasets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wild-type PI &gt; disease, drug partially rescues.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Video counting exact on ground-truth clips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(8 above / 4 below → PI 33.3; 3/9 → −50).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37376"/>
            <a:ext cx="111556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900" b="1" i="0">
                <a:solidFill>
                  <a:srgbClr val="546678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46678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MODULE 2 · LIFESPAN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6583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2700" b="1" i="0">
                <a:solidFill>
                  <a:srgbClr val="0D2137"/>
                </a:solidFill>
                <a:latin typeface="Calibri"/>
              </a:rPr>
              <a:t>Survival / lifespan analysis (actuarial)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E6F8A"/>
                </a:solidFill>
                <a:latin typeface="Calibri"/>
              </a:rPr>
              <a:t>What it measures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How long flies live, with right-censoring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(some still alive at study end).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The standard read-out of disease severity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and of a drug's protective effect.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5352" y="1481328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F0A500"/>
                </a:solidFill>
                <a:latin typeface="Calibri"/>
              </a:rPr>
              <a:t>How it calculates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KM  Ŝ(t) = Π (1 − dᵢ/nᵢ)   (product-limit)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Greenwood variance → 95% CI (cloglog)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Median survival + Brookmeyer–Crowley CI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Log-rank χ² = (ΣO−E)²/ΣV ;  pairwise BH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Cox HR = exp(β)  (partial likelihood, Breslow)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67327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Input  →  Output format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IN: event-level (Time, Event) OR daily cohort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     (Day, Dead_count, Censored_count, Total_start)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OUT: Kaplan–Meier curves, median table, log-rank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     table, Cox HR table (95% CI), RMST, CSV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3767327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B845F"/>
                </a:solidFill>
                <a:latin typeface="Calibri"/>
              </a:rPr>
              <a:t>How we validated  →  result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Real Freireich (1963) 6-MP trial reproduced: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median 23 / 8 wk; log-rank χ² = 16.79; HR = 4.52.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Matches R survival (Breslow) and lifelines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(Efron) to five significant figures.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37376"/>
            <a:ext cx="111556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900" b="1" i="0">
                <a:solidFill>
                  <a:srgbClr val="546678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46678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MODULE 3 · Y-MAZE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6583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2700" b="1" i="0">
                <a:solidFill>
                  <a:srgbClr val="0D2137"/>
                </a:solidFill>
                <a:latin typeface="Calibri"/>
              </a:rPr>
              <a:t>Y-maze: working memory and handedness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E6F8A"/>
                </a:solidFill>
                <a:latin typeface="Calibri"/>
              </a:rPr>
              <a:t>What it measures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Spatial working memory (does the fly avoid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the arm it just visited?) and locomotor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handedness / behavioural individuality —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cognition read-outs for disease models.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5352" y="1481328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F0A500"/>
                </a:solidFill>
                <a:latin typeface="Calibri"/>
              </a:rPr>
              <a:t>How it calculates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%alternation = 100 · triads / (entries − 2)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  (tested vs 50% chance level)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turn bias = R / (R + L)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individuality: Monte-Carlo of observed MAD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  vs a common-bias binomial null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67327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Input  →  Output format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IN: per-fly arm-entry sequence (e.g. ABCACB),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     or long per-entry rows, or L/R turns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OUT: per-fly metrics, alternation summary (vs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     chance p), turn-bias summary (%extreme,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     individuality p), group comparison, CSV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3767327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B845F"/>
                </a:solidFill>
                <a:latin typeface="Calibri"/>
              </a:rPr>
              <a:t>How we validated  →  result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Hand sequences exact (ABCABC = 100%);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unbiased fly alternates at exactly 50% (chance).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Reproduces de Bivort 2015 (mean 0.50; 23.5%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extreme) and the 50% chance level (Lewis 2017).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37376"/>
            <a:ext cx="111556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900" b="1" i="0">
                <a:solidFill>
                  <a:srgbClr val="546678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46678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MODULE 4 · DAMS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6583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2700" b="1" i="0">
                <a:solidFill>
                  <a:srgbClr val="0D2137"/>
                </a:solidFill>
                <a:latin typeface="Calibri"/>
              </a:rPr>
              <a:t>Activity monitoring: sleep and circadian period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E6F8A"/>
                </a:solidFill>
                <a:latin typeface="Calibri"/>
              </a:rPr>
              <a:t>What it measures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Sleep architecture and the internal body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clock (circadian period), from minute-by-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minute activity — key to ageing, sleep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and neurodegeneration phenotypes.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5352" y="1481328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F0A500"/>
                </a:solidFill>
                <a:latin typeface="Calibri"/>
              </a:rPr>
              <a:t>How it calculates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Sleep bout = ≥ 5 min of zero activity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  → total / day / night sleep, bouts, length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Circadian: χ² (Sokolove–Bushell) periodogram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  Q_P ~ χ²(p−1), Bonferroni across periods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  + Lomb–Scargle cross-check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67327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Input  →  Output format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IN: long CSV — Genotype, Treatment, Sex, FlyID,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     Time_min, Activity (1-min bins; ≥7 days)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OUT: sleep summary, sleep profile, period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     summary (% rhythmic, mean period),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     per-fly periodograms, CSV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3767327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B845F"/>
                </a:solidFill>
                <a:latin typeface="Calibri"/>
              </a:rPr>
              <a:t>How we validated  →  result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5-min rule exact at the 4- vs 5-min boundary.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Recovers Konopka–Benzer (1971) periods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24 / 19 / 28 h; 100% sensitivity, 0% false-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positives. Matches astropy &amp; pyBOAT (23.96 h).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37376"/>
            <a:ext cx="111556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900" b="1" i="0">
                <a:solidFill>
                  <a:srgbClr val="546678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46678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MODULE 5 · LARVAL CRAWLING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6583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2700" b="1" i="0">
                <a:solidFill>
                  <a:srgbClr val="0D2137"/>
                </a:solidFill>
                <a:latin typeface="Calibri"/>
              </a:rPr>
              <a:t>Larval crawling (locomotion)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E6F8A"/>
                </a:solidFill>
                <a:latin typeface="Calibri"/>
              </a:rPr>
              <a:t>What it measures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Motor output of the larval nervous system: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how fast and how straight a larva crawls —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an early-stage locomotor read-out sensitive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to neuromuscular disease models.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5352" y="1481328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F0A500"/>
                </a:solidFill>
                <a:latin typeface="Calibri"/>
              </a:rPr>
              <a:t>How it calculates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Detect larva = largest dark blob (Otsu)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path length = Σ step distances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mean speed = path × (px·mm⁻¹)⁻¹ / duration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tortuosity = path / straight-line displacement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+ max speed, pause count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67327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Input  →  Output format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IN: single-larva .mp4 + pixels-per-mm scale,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     or a per-larva summary CSV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OUT: trajectory (x,y,t), per-larva summary,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     group means ± SEM, comparison, CSV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3767327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B845F"/>
                </a:solidFill>
                <a:latin typeface="Calibri"/>
              </a:rPr>
              <a:t>How we validated  →  result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Known-velocity clip → speed recovered exactly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(4.472 mm/s), tortuosity ≈ 1.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Demo cohorts: wild-type ≈ 1 mm/s (published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0.5–2 mm/s range); disease models slower.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37376"/>
            <a:ext cx="111556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900" b="1" i="0">
                <a:solidFill>
                  <a:srgbClr val="546678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46678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MODULE 6 · GROOMING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6583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2700" b="1" i="0">
                <a:solidFill>
                  <a:srgbClr val="0D2137"/>
                </a:solidFill>
                <a:latin typeface="Calibri"/>
              </a:rPr>
              <a:t>Grooming behaviour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E6F8A"/>
                </a:solidFill>
                <a:latin typeface="Calibri"/>
              </a:rPr>
              <a:t>What it measures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A structured self-cleaning behaviour used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as a read-out of motor patterning and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certain neuro/behavioural phenotypes;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quantified from scored grooming bouts.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5352" y="1481328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F0A500"/>
                </a:solidFill>
                <a:latin typeface="Calibri"/>
              </a:rPr>
              <a:t>How it calculates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%time grooming = 100 · Σ bout / observation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n bouts, mean bout duration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grooming rate = bouts per minute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(from scored bout start/stop intervals)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67327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Input  →  Output format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IN: bout-level CSV — Bout_start_s, Bout_end_s,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     Observation_s  (or a per-fly summary)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OUT: per-fly metrics, group summary (% time,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     bouts, rate) ± SEM, comparison, CSV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3767327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B845F"/>
                </a:solidFill>
                <a:latin typeface="Calibri"/>
              </a:rPr>
              <a:t>How we validated  →  result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Bout arithmetic exact (10% of 600 s = 3 bouts,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mean 20 s).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Demo wild-type ≈ 13% of time grooming,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matching Qiao et al. 2018 (eLife).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37376"/>
            <a:ext cx="111556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900" b="1" i="0">
                <a:solidFill>
                  <a:srgbClr val="546678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46678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ENGINE 1 · MOTOR DECLINE 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6583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2700" b="1" i="0">
                <a:solidFill>
                  <a:srgbClr val="0D2137"/>
                </a:solidFill>
                <a:latin typeface="Calibri"/>
              </a:rPr>
              <a:t>Motor Decline Rate (MDR) — decline over 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E6F8A"/>
                </a:solidFill>
                <a:latin typeface="Calibri"/>
              </a:rPr>
              <a:t>What it measures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How fast climbing performance deteriorates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with AGE (days) — a kinetic measure of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disease progression, and of a drug slowing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it, that endpoint PI alone cannot capture.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5352" y="1481328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F0A500"/>
                </a:solidFill>
                <a:latin typeface="Calibri"/>
              </a:rPr>
              <a:t>How it calculates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PI(age) = PI₀ · e^(−k · age)   (per group)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k = decline-rate constant (per day)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t½ = ln2 / k ;  R² = fit quality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Δk = k(vehicle) − k(drug)  → rescue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linear fallback if decay does not fit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67327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Input  →  Output format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IN: climbing data WITH an Age column (endpoint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     PI per age; ≥ 2 ages per group)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OUT: MDR table (PI₀, k, t½, R², Δk, Rescue %,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     trajectory label), decay-fit figure, CSV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3767327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B845F"/>
                </a:solidFill>
                <a:latin typeface="Calibri"/>
              </a:rPr>
              <a:t>How we validated  →  result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Recovers a known k across 5 sample sets: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Pearson r = 0.989, median R² = 0.99.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Correctly orders decline (disease &gt; wild type)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and detects drug-mediated slowing.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37376"/>
            <a:ext cx="111556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900" b="1" i="0">
                <a:solidFill>
                  <a:srgbClr val="546678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46678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ENGINE 2 · TRAJECTORY CLUSTERING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6583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2700" b="1" i="0">
                <a:solidFill>
                  <a:srgbClr val="0D2137"/>
                </a:solidFill>
                <a:latin typeface="Calibri"/>
              </a:rPr>
              <a:t>Trajectory clustering (unsupervised)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E6F8A"/>
                </a:solidFill>
                <a:latin typeface="Calibri"/>
              </a:rPr>
              <a:t>What it measures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Automatically groups genotype/treatment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response curves into shared shape families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(e.g. sustained rescue vs progressive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decline) with no pre-labelling.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5352" y="1481328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F0A500"/>
                </a:solidFill>
                <a:latin typeface="Calibri"/>
              </a:rPr>
              <a:t>How it calculates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DTW = dynamic time warping distance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  between each pair of PI-vs-time curves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Ward-linkage hierarchical clustering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silhouette score → optimal cluster number k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mbria"/>
              </a:rPr>
              <a:t>archetype = DTW barycentre per cluster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67327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Input  →  Output format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IN: group PI-vs-time table (Genotype, Sex,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     Treatment, Time, PI_mean)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OUT: dendrogram, PCA embedding, cluster table,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     per-cluster archetype curves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3767327"/>
            <a:ext cx="548640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B845F"/>
                </a:solidFill>
                <a:latin typeface="Calibri"/>
              </a:rPr>
              <a:t>How we validated  →  result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On data with two known shape families the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clustering returns exactly 2 clusters with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50" b="0" i="0">
                <a:solidFill>
                  <a:srgbClr val="1E2933"/>
                </a:solidFill>
                <a:latin typeface="Calibri"/>
              </a:rPr>
              <a:t>purity = 1.0 across 4 random seeds.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37376"/>
            <a:ext cx="111556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900" b="1" i="0">
                <a:solidFill>
                  <a:srgbClr val="546678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46678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ENGINE 3 · CORE 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6583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2700" b="1" i="0">
                <a:solidFill>
                  <a:srgbClr val="0D2137"/>
                </a:solidFill>
                <a:latin typeface="Calibri"/>
              </a:rPr>
              <a:t>Drug Ranking: unequal-N cross-strain meta-analysis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580644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F0A500"/>
                </a:solidFill>
                <a:latin typeface="Calibri"/>
              </a:rPr>
              <a:t>How it calculates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050" b="0" i="0">
                <a:solidFill>
                  <a:srgbClr val="1E2933"/>
                </a:solidFill>
                <a:latin typeface="Calibri"/>
              </a:rPr>
              <a:t>Per strain × sex — Hedges' g (drug vs vehicle):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050" b="0" i="0">
                <a:solidFill>
                  <a:srgbClr val="1E2933"/>
                </a:solidFill>
                <a:latin typeface="Cambria"/>
              </a:rPr>
              <a:t>g = J·(x̄_t − x̄_c)/s_p ,  Var(g) depends on n₁,n₂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050" b="0" i="0">
                <a:solidFill>
                  <a:srgbClr val="1E2933"/>
                </a:solidFill>
                <a:latin typeface="Cambria"/>
              </a:rPr>
              <a:t>Survival effect = −logHR · √3/π  (to same scale)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050" b="0" i="0">
                <a:solidFill>
                  <a:srgbClr val="1E2933"/>
                </a:solidFill>
                <a:latin typeface="Cambria"/>
              </a:rPr>
              <a:t>Pool across strains — inverse-variance / DL: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050" b="0" i="0">
                <a:solidFill>
                  <a:srgbClr val="1E2933"/>
                </a:solidFill>
                <a:latin typeface="Cambria"/>
              </a:rPr>
              <a:t>g_pooled = Σwᵢgᵢ/Σwᵢ , wᵢ = 1/Var(gᵢ) ; report I²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767328"/>
            <a:ext cx="5806440" cy="208483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B845F"/>
                </a:solidFill>
                <a:latin typeface="Calibri"/>
              </a:rPr>
              <a:t>Input → Output → Validation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libri"/>
              </a:rPr>
              <a:t>IN: the four assay files for a common cohort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libri"/>
              </a:rPr>
              <a:t>OUT: per-strain effects, per-assay pooled g (I²),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libri"/>
              </a:rPr>
              <a:t>     composite Therapeutic Score + ranking, CSV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libri"/>
              </a:rPr>
              <a:t>VALIDATED: pooling exact vs statsmodels; ranks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100" b="0" i="0">
                <a:solidFill>
                  <a:srgbClr val="1E2933"/>
                </a:solidFill>
                <a:latin typeface="Calibri"/>
              </a:rPr>
              <a:t>     A&gt;B&gt;C; 19.9% lower error, 95.8% CI coverage</a:t>
            </a:r>
          </a:p>
        </p:txBody>
      </p:sp>
      <p:pic>
        <p:nvPicPr>
          <p:cNvPr id="7" name="Picture 6" descr="Figure2_innov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600200"/>
            <a:ext cx="5257800" cy="20855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37376"/>
            <a:ext cx="111556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900" b="1" i="0">
                <a:solidFill>
                  <a:srgbClr val="546678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46678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VALIDATION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6583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2700" b="1" i="0">
                <a:solidFill>
                  <a:srgbClr val="0D2137"/>
                </a:solidFill>
                <a:latin typeface="Calibri"/>
              </a:rPr>
              <a:t>How we tested every module — three independent pillars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00200"/>
            <a:ext cx="3611880" cy="3657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9700" rIns="139700" tIns="152400"/>
          <a:lstStyle/>
          <a:p>
            <a:pPr algn="ctr"/>
            <a:r>
              <a:rPr sz="1500" b="1" i="0">
                <a:solidFill>
                  <a:srgbClr val="0B845F"/>
                </a:solidFill>
                <a:latin typeface="Calibri"/>
              </a:rPr>
              <a:t>Published benchmark data</a:t>
            </a:r>
          </a:p>
          <a:p>
            <a:pPr>
              <a:lnSpc>
                <a:spcPct val="105000"/>
              </a:lnSpc>
              <a:spcBef>
                <a:spcPts val="300"/>
              </a:spcBef>
            </a:pPr>
            <a:r>
              <a:rPr sz="1150" b="0" i="0">
                <a:solidFill>
                  <a:srgbClr val="1E2933"/>
                </a:solidFill>
                <a:latin typeface="Calibri"/>
              </a:rPr>
              <a:t>Real datasets with known, peer-reviewed answers.</a:t>
            </a:r>
          </a:p>
          <a:p>
            <a:pPr>
              <a:lnSpc>
                <a:spcPct val="105000"/>
              </a:lnSpc>
              <a:spcBef>
                <a:spcPts val="300"/>
              </a:spcBef>
            </a:pPr>
            <a:r>
              <a:rPr sz="1150" b="0" i="0">
                <a:solidFill>
                  <a:srgbClr val="1E2933"/>
                </a:solidFill>
                <a:latin typeface="Calibri"/>
              </a:rPr>
              <a:t>Freireich 1963 (survival); PlantGrowth / Dobson</a:t>
            </a:r>
          </a:p>
          <a:p>
            <a:pPr>
              <a:lnSpc>
                <a:spcPct val="105000"/>
              </a:lnSpc>
              <a:spcBef>
                <a:spcPts val="300"/>
              </a:spcBef>
            </a:pPr>
            <a:r>
              <a:rPr sz="1150" b="0" i="0">
                <a:solidFill>
                  <a:srgbClr val="1E2933"/>
                </a:solidFill>
                <a:latin typeface="Calibri"/>
              </a:rPr>
              <a:t>1983 (ANOVA); Konopka–Benzer 1971 (periods).</a:t>
            </a:r>
          </a:p>
          <a:p>
            <a:pPr>
              <a:lnSpc>
                <a:spcPct val="105000"/>
              </a:lnSpc>
              <a:spcBef>
                <a:spcPts val="300"/>
              </a:spcBef>
            </a:pPr>
            <a:r>
              <a:rPr sz="1150" b="0" i="0">
                <a:solidFill>
                  <a:srgbClr val="1E2933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300"/>
              </a:spcBef>
            </a:pPr>
            <a:r>
              <a:rPr sz="1150" b="0" i="0">
                <a:solidFill>
                  <a:srgbClr val="1E2933"/>
                </a:solidFill>
                <a:latin typeface="Calibri"/>
              </a:rPr>
              <a:t>Test: reproduce the paper's exact statistic.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600200"/>
            <a:ext cx="3611880" cy="3657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9700" rIns="139700" tIns="152400"/>
          <a:lstStyle/>
          <a:p>
            <a:pPr algn="ctr"/>
            <a:r>
              <a:rPr sz="1500" b="1" i="0">
                <a:solidFill>
                  <a:srgbClr val="0E6F8A"/>
                </a:solidFill>
                <a:latin typeface="Calibri"/>
              </a:rPr>
              <a:t>Analytic ground truth</a:t>
            </a:r>
          </a:p>
          <a:p>
            <a:pPr>
              <a:lnSpc>
                <a:spcPct val="105000"/>
              </a:lnSpc>
              <a:spcBef>
                <a:spcPts val="300"/>
              </a:spcBef>
            </a:pPr>
            <a:r>
              <a:rPr sz="1150" b="0" i="0">
                <a:solidFill>
                  <a:srgbClr val="1E2933"/>
                </a:solidFill>
                <a:latin typeface="Calibri"/>
              </a:rPr>
              <a:t>Data generated with a KNOWN answer built in.</a:t>
            </a:r>
          </a:p>
          <a:p>
            <a:pPr>
              <a:lnSpc>
                <a:spcPct val="105000"/>
              </a:lnSpc>
              <a:spcBef>
                <a:spcPts val="300"/>
              </a:spcBef>
            </a:pPr>
            <a:r>
              <a:rPr sz="1150" b="0" i="0">
                <a:solidFill>
                  <a:srgbClr val="1E2933"/>
                </a:solidFill>
                <a:latin typeface="Calibri"/>
              </a:rPr>
              <a:t>e.g. PI = PI₀·e^(−k·age) with a chosen k; a video</a:t>
            </a:r>
          </a:p>
          <a:p>
            <a:pPr>
              <a:lnSpc>
                <a:spcPct val="105000"/>
              </a:lnSpc>
              <a:spcBef>
                <a:spcPts val="300"/>
              </a:spcBef>
            </a:pPr>
            <a:r>
              <a:rPr sz="1150" b="0" i="0">
                <a:solidFill>
                  <a:srgbClr val="1E2933"/>
                </a:solidFill>
                <a:latin typeface="Calibri"/>
              </a:rPr>
              <a:t>with known fly positions; a signal of known 24 h.</a:t>
            </a:r>
          </a:p>
          <a:p>
            <a:pPr>
              <a:lnSpc>
                <a:spcPct val="105000"/>
              </a:lnSpc>
              <a:spcBef>
                <a:spcPts val="300"/>
              </a:spcBef>
            </a:pPr>
            <a:r>
              <a:rPr sz="1150" b="0" i="0">
                <a:solidFill>
                  <a:srgbClr val="1E2933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300"/>
              </a:spcBef>
            </a:pPr>
            <a:r>
              <a:rPr sz="1150" b="0" i="0">
                <a:solidFill>
                  <a:srgbClr val="1E2933"/>
                </a:solidFill>
                <a:latin typeface="Calibri"/>
              </a:rPr>
              <a:t>Test: recover the known value precisely.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1600200"/>
            <a:ext cx="3611880" cy="3657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9700" rIns="139700" tIns="152400"/>
          <a:lstStyle/>
          <a:p>
            <a:pPr algn="ctr"/>
            <a:r>
              <a:rPr sz="1500" b="1" i="0">
                <a:solidFill>
                  <a:srgbClr val="0D2137"/>
                </a:solidFill>
                <a:latin typeface="Calibri"/>
              </a:rPr>
              <a:t>Reference datasets</a:t>
            </a:r>
          </a:p>
          <a:p>
            <a:pPr>
              <a:lnSpc>
                <a:spcPct val="105000"/>
              </a:lnSpc>
              <a:spcBef>
                <a:spcPts val="300"/>
              </a:spcBef>
            </a:pPr>
            <a:r>
              <a:rPr sz="1150" b="0" i="0">
                <a:solidFill>
                  <a:srgbClr val="1E2933"/>
                </a:solidFill>
                <a:latin typeface="Calibri"/>
              </a:rPr>
              <a:t>≥ 3 per assay, in the upload template format,</a:t>
            </a:r>
          </a:p>
          <a:p>
            <a:pPr>
              <a:lnSpc>
                <a:spcPct val="105000"/>
              </a:lnSpc>
              <a:spcBef>
                <a:spcPts val="300"/>
              </a:spcBef>
            </a:pPr>
            <a:r>
              <a:rPr sz="1150" b="0" i="0">
                <a:solidFill>
                  <a:srgbClr val="1E2933"/>
                </a:solidFill>
                <a:latin typeface="Calibri"/>
              </a:rPr>
              <a:t>each parameterised to a cited published value</a:t>
            </a:r>
          </a:p>
          <a:p>
            <a:pPr>
              <a:lnSpc>
                <a:spcPct val="105000"/>
              </a:lnSpc>
              <a:spcBef>
                <a:spcPts val="300"/>
              </a:spcBef>
            </a:pPr>
            <a:r>
              <a:rPr sz="1150" b="0" i="0">
                <a:solidFill>
                  <a:srgbClr val="1E2933"/>
                </a:solidFill>
                <a:latin typeface="Calibri"/>
              </a:rPr>
              <a:t>(and labelled real vs simulated).</a:t>
            </a:r>
          </a:p>
          <a:p>
            <a:pPr>
              <a:lnSpc>
                <a:spcPct val="105000"/>
              </a:lnSpc>
              <a:spcBef>
                <a:spcPts val="300"/>
              </a:spcBef>
            </a:pPr>
            <a:r>
              <a:rPr sz="1150" b="0" i="0">
                <a:solidFill>
                  <a:srgbClr val="1E2933"/>
                </a:solidFill>
                <a:latin typeface="Calibri"/>
              </a:rPr>
              <a:t/>
            </a:r>
          </a:p>
          <a:p>
            <a:pPr>
              <a:lnSpc>
                <a:spcPct val="105000"/>
              </a:lnSpc>
              <a:spcBef>
                <a:spcPts val="300"/>
              </a:spcBef>
            </a:pPr>
            <a:r>
              <a:rPr sz="1150" b="0" i="0">
                <a:solidFill>
                  <a:srgbClr val="1E2933"/>
                </a:solidFill>
                <a:latin typeface="Calibri"/>
              </a:rPr>
              <a:t>Test: reproduce the cited expectation (18/18).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486400"/>
            <a:ext cx="1115568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1300" b="0" i="1">
                <a:solidFill>
                  <a:srgbClr val="546678"/>
                </a:solidFill>
                <a:latin typeface="Calibri"/>
              </a:rPr>
              <a:t>Plus a fourth check: the SAME data through seven independent tools (R, lifelines, statsmodels, scipy, pingouin, astropy, pyBOAT) — 24/24 metrics agree.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37376"/>
            <a:ext cx="111556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900" b="1" i="0">
                <a:solidFill>
                  <a:srgbClr val="546678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46678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TEST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6583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2700" b="1" i="0">
                <a:solidFill>
                  <a:srgbClr val="0D2137"/>
                </a:solidFill>
                <a:latin typeface="Calibri"/>
              </a:rPr>
              <a:t>How we obtained the testing samples — and what they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5943600" cy="45720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>
              <a:lnSpc>
                <a:spcPct val="104000"/>
              </a:lnSpc>
              <a:spcAft>
                <a:spcPts val="1000"/>
              </a:spcAft>
            </a:pPr>
            <a:r>
              <a:rPr sz="1300" b="1" i="0">
                <a:solidFill>
                  <a:srgbClr val="F0A500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E2933"/>
                </a:solidFill>
                <a:latin typeface="Calibri"/>
              </a:rPr>
              <a:t>Real raw data (used directly). </a:t>
            </a:r>
            <a:r>
              <a:rPr sz="1300" b="0" i="0">
                <a:solidFill>
                  <a:srgbClr val="1E2933"/>
                </a:solidFill>
                <a:latin typeface="Calibri"/>
              </a:rPr>
              <a:t>Freireich 1963 6-MP leukemia trial (42 flies-equivalent event records, verified against the Klein–Moeschberger source); PlantGrowth (Dobson 1983).</a:t>
            </a:r>
          </a:p>
          <a:p>
            <a:pPr>
              <a:lnSpc>
                <a:spcPct val="104000"/>
              </a:lnSpc>
              <a:spcAft>
                <a:spcPts val="1000"/>
              </a:spcAft>
            </a:pPr>
            <a:r>
              <a:rPr sz="1300" b="1" i="0">
                <a:solidFill>
                  <a:srgbClr val="F0A500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E2933"/>
                </a:solidFill>
                <a:latin typeface="Calibri"/>
              </a:rPr>
              <a:t>Real published parameters. </a:t>
            </a:r>
            <a:r>
              <a:rPr sz="1300" b="0" i="0">
                <a:solidFill>
                  <a:srgbClr val="1E2933"/>
                </a:solidFill>
                <a:latin typeface="Calibri"/>
              </a:rPr>
              <a:t>Konopka–Benzer 1971 free-running periods (24 / 19 / 28 h) drive the circadian test signals.</a:t>
            </a:r>
          </a:p>
          <a:p>
            <a:pPr>
              <a:lnSpc>
                <a:spcPct val="104000"/>
              </a:lnSpc>
              <a:spcAft>
                <a:spcPts val="1000"/>
              </a:spcAft>
            </a:pPr>
            <a:r>
              <a:rPr sz="1300" b="1" i="0">
                <a:solidFill>
                  <a:srgbClr val="F0A500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E2933"/>
                </a:solidFill>
                <a:latin typeface="Calibri"/>
              </a:rPr>
              <a:t>Analytic ground truth. </a:t>
            </a:r>
            <a:r>
              <a:rPr sz="1300" b="0" i="0">
                <a:solidFill>
                  <a:srgbClr val="1E2933"/>
                </a:solidFill>
                <a:latin typeface="Calibri"/>
              </a:rPr>
              <a:t>Programmatically generated so the correct answer is known exactly (decay constant k, fly positions in a video, a 24-h rhythm).</a:t>
            </a:r>
          </a:p>
          <a:p>
            <a:pPr>
              <a:lnSpc>
                <a:spcPct val="104000"/>
              </a:lnSpc>
              <a:spcAft>
                <a:spcPts val="1000"/>
              </a:spcAft>
            </a:pPr>
            <a:r>
              <a:rPr sz="1300" b="1" i="0">
                <a:solidFill>
                  <a:srgbClr val="F0A500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E2933"/>
                </a:solidFill>
                <a:latin typeface="Calibri"/>
              </a:rPr>
              <a:t>Literature-calibrated reference sets. </a:t>
            </a:r>
            <a:r>
              <a:rPr sz="1300" b="0" i="0">
                <a:solidFill>
                  <a:srgbClr val="1E2933"/>
                </a:solidFill>
                <a:latin typeface="Calibri"/>
              </a:rPr>
              <a:t>≥3 per assay, simulated from text-verified published values (chance 50%, bias 0.50/23.5%, WT life ≈50 d, larval ≈1 mm/s, grooming ≈13%) — each cited, each labelled 'simulated'.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20840" y="1691640"/>
            <a:ext cx="4937760" cy="40233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F0A500"/>
                </a:solidFill>
                <a:latin typeface="Calibri"/>
              </a:rPr>
              <a:t>Honesty principle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50" b="0" i="0">
                <a:solidFill>
                  <a:srgbClr val="1E2933"/>
                </a:solidFill>
                <a:latin typeface="Calibri"/>
              </a:rPr>
              <a:t>Where machine-readable raw supplements were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50" b="0" i="0">
                <a:solidFill>
                  <a:srgbClr val="1E2933"/>
                </a:solidFill>
                <a:latin typeface="Calibri"/>
              </a:rPr>
              <a:t>available, we used them directly.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50" b="0" i="0">
                <a:solidFill>
                  <a:srgbClr val="1E2933"/>
                </a:solidFill>
                <a:latin typeface="Calibri"/>
              </a:rPr>
              <a:t/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50" b="0" i="0">
                <a:solidFill>
                  <a:srgbClr val="1E2933"/>
                </a:solidFill>
                <a:latin typeface="Calibri"/>
              </a:rPr>
              <a:t>Where they were not, we simulated from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50" b="0" i="0">
                <a:solidFill>
                  <a:srgbClr val="1E2933"/>
                </a:solidFill>
                <a:latin typeface="Calibri"/>
              </a:rPr>
              <a:t>explicitly cited published parameters and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50" b="0" i="0">
                <a:solidFill>
                  <a:srgbClr val="1E2933"/>
                </a:solidFill>
                <a:latin typeface="Calibri"/>
              </a:rPr>
              <a:t>labelled them as simulated — no dataset is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50" b="0" i="0">
                <a:solidFill>
                  <a:srgbClr val="1E2933"/>
                </a:solidFill>
                <a:latin typeface="Calibri"/>
              </a:rPr>
              <a:t>presented as raw data we did not have.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50" b="0" i="0">
                <a:solidFill>
                  <a:srgbClr val="1E2933"/>
                </a:solidFill>
                <a:latin typeface="Calibri"/>
              </a:rPr>
              <a:t/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50" b="0" i="0">
                <a:solidFill>
                  <a:srgbClr val="1E2933"/>
                </a:solidFill>
                <a:latin typeface="Calibri"/>
              </a:rPr>
              <a:t>All 18 reference datasets reproduce their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50" b="0" i="0">
                <a:solidFill>
                  <a:srgbClr val="1E2933"/>
                </a:solidFill>
                <a:latin typeface="Calibri"/>
              </a:rPr>
              <a:t>cited published expectation.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37376"/>
            <a:ext cx="111556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900" b="1" i="0">
                <a:solidFill>
                  <a:srgbClr val="546678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46678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PARAMETERS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6583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2700" b="1" i="0">
                <a:solidFill>
                  <a:srgbClr val="0D2137"/>
                </a:solidFill>
                <a:latin typeface="Calibri"/>
              </a:rPr>
              <a:t>Testing parameters — each set from the literature, not tuned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1300" b="0" i="1">
                <a:solidFill>
                  <a:srgbClr val="546678"/>
                </a:solidFill>
                <a:latin typeface="Calibri"/>
              </a:rPr>
              <a:t>No parameter was tuned to flatter a result — each is a community standard, cited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10512"/>
            <a:ext cx="2743200" cy="51206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r>
              <a:rPr sz="1250" b="1" i="0">
                <a:solidFill>
                  <a:srgbClr val="0D2137"/>
                </a:solidFill>
                <a:latin typeface="Calibri"/>
              </a:rPr>
              <a:t>Sleep threshold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1810512"/>
            <a:ext cx="2834640" cy="51206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r>
              <a:rPr sz="1250" b="1" i="0">
                <a:solidFill>
                  <a:srgbClr val="0B845F"/>
                </a:solidFill>
                <a:latin typeface="Cambria"/>
              </a:rPr>
              <a:t>≥ 5 min inactivity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10512"/>
            <a:ext cx="5349240" cy="51206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r>
              <a:rPr sz="1150" b="0" i="0">
                <a:solidFill>
                  <a:srgbClr val="1E2933"/>
                </a:solidFill>
                <a:latin typeface="Calibri"/>
              </a:rPr>
              <a:t>Hendricks / Shaw 2000 operational definition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313432"/>
            <a:ext cx="11155680" cy="9525"/>
          </a:xfrm>
          <a:prstGeom prst="rect">
            <a:avLst/>
          </a:prstGeom>
          <a:solidFill>
            <a:srgbClr val="C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345436"/>
            <a:ext cx="2743200" cy="51206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r>
              <a:rPr sz="1250" b="1" i="0">
                <a:solidFill>
                  <a:srgbClr val="0D2137"/>
                </a:solidFill>
                <a:latin typeface="Calibri"/>
              </a:rPr>
              <a:t>Alternation chance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2345436"/>
            <a:ext cx="2834640" cy="51206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r>
              <a:rPr sz="1250" b="1" i="0">
                <a:solidFill>
                  <a:srgbClr val="0B845F"/>
                </a:solidFill>
                <a:latin typeface="Cambria"/>
              </a:rPr>
              <a:t>50%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345436"/>
            <a:ext cx="5349240" cy="51206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r>
              <a:rPr sz="1150" b="0" i="0">
                <a:solidFill>
                  <a:srgbClr val="1E2933"/>
                </a:solidFill>
                <a:latin typeface="Calibri"/>
              </a:rPr>
              <a:t>Lewis 2017; also emerges from the arm geometry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848356"/>
            <a:ext cx="11155680" cy="9525"/>
          </a:xfrm>
          <a:prstGeom prst="rect">
            <a:avLst/>
          </a:prstGeom>
          <a:solidFill>
            <a:srgbClr val="C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880360"/>
            <a:ext cx="2743200" cy="51206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r>
              <a:rPr sz="1250" b="1" i="0">
                <a:solidFill>
                  <a:srgbClr val="0D2137"/>
                </a:solidFill>
                <a:latin typeface="Calibri"/>
              </a:rPr>
              <a:t>Reference periods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2880360"/>
            <a:ext cx="2834640" cy="51206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r>
              <a:rPr sz="1250" b="1" i="0">
                <a:solidFill>
                  <a:srgbClr val="0B845F"/>
                </a:solidFill>
                <a:latin typeface="Cambria"/>
              </a:rPr>
              <a:t>24 / 19 / 28 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880360"/>
            <a:ext cx="5349240" cy="51206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r>
              <a:rPr sz="1150" b="0" i="0">
                <a:solidFill>
                  <a:srgbClr val="1E2933"/>
                </a:solidFill>
                <a:latin typeface="Calibri"/>
              </a:rPr>
              <a:t>Konopka &amp; Benzer 1971 (WT / perS / perL)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383280"/>
            <a:ext cx="11155680" cy="9525"/>
          </a:xfrm>
          <a:prstGeom prst="rect">
            <a:avLst/>
          </a:prstGeom>
          <a:solidFill>
            <a:srgbClr val="C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415284"/>
            <a:ext cx="2743200" cy="51206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r>
              <a:rPr sz="1250" b="1" i="0">
                <a:solidFill>
                  <a:srgbClr val="0D2137"/>
                </a:solidFill>
                <a:latin typeface="Calibri"/>
              </a:rPr>
              <a:t>Periodogram band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37560" y="3415284"/>
            <a:ext cx="2834640" cy="51206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r>
              <a:rPr sz="1250" b="1" i="0">
                <a:solidFill>
                  <a:srgbClr val="0B845F"/>
                </a:solidFill>
                <a:latin typeface="Cambria"/>
              </a:rPr>
              <a:t>16–32 h, Bonferroni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415284"/>
            <a:ext cx="5349240" cy="51206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r>
              <a:rPr sz="1150" b="0" i="0">
                <a:solidFill>
                  <a:srgbClr val="1E2933"/>
                </a:solidFill>
                <a:latin typeface="Calibri"/>
              </a:rPr>
              <a:t>Circadian range; controls family-wise error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918204"/>
            <a:ext cx="11155680" cy="9525"/>
          </a:xfrm>
          <a:prstGeom prst="rect">
            <a:avLst/>
          </a:prstGeom>
          <a:solidFill>
            <a:srgbClr val="C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950208"/>
            <a:ext cx="2743200" cy="51206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r>
              <a:rPr sz="1250" b="1" i="0">
                <a:solidFill>
                  <a:srgbClr val="0D2137"/>
                </a:solidFill>
                <a:latin typeface="Calibri"/>
              </a:rPr>
              <a:t>Turn-bias spread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37560" y="3950208"/>
            <a:ext cx="2834640" cy="51206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r>
              <a:rPr sz="1250" b="1" i="0">
                <a:solidFill>
                  <a:srgbClr val="0B845F"/>
                </a:solidFill>
                <a:latin typeface="Cambria"/>
              </a:rPr>
              <a:t>23.5% outside [0.3,0.7]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950208"/>
            <a:ext cx="5349240" cy="51206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r>
              <a:rPr sz="1150" b="0" i="0">
                <a:solidFill>
                  <a:srgbClr val="1E2933"/>
                </a:solidFill>
                <a:latin typeface="Calibri"/>
              </a:rPr>
              <a:t>de Bivort 2015 Canton-S distribution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453128"/>
            <a:ext cx="11155680" cy="9525"/>
          </a:xfrm>
          <a:prstGeom prst="rect">
            <a:avLst/>
          </a:prstGeom>
          <a:solidFill>
            <a:srgbClr val="C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4485132"/>
            <a:ext cx="2743200" cy="51206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r>
              <a:rPr sz="1250" b="1" i="0">
                <a:solidFill>
                  <a:srgbClr val="0D2137"/>
                </a:solidFill>
                <a:latin typeface="Calibri"/>
              </a:rPr>
              <a:t>MDR axis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4485132"/>
            <a:ext cx="2834640" cy="51206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r>
              <a:rPr sz="1250" b="1" i="0">
                <a:solidFill>
                  <a:srgbClr val="0B845F"/>
                </a:solidFill>
                <a:latin typeface="Cambria"/>
              </a:rPr>
              <a:t>Age (days)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4485132"/>
            <a:ext cx="5349240" cy="51206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r>
              <a:rPr sz="1150" b="0" i="0">
                <a:solidFill>
                  <a:srgbClr val="1E2933"/>
                </a:solidFill>
                <a:latin typeface="Calibri"/>
              </a:rPr>
              <a:t>Negative geotaxis is age-dependent (Gargano 2005)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988052"/>
            <a:ext cx="11155680" cy="9525"/>
          </a:xfrm>
          <a:prstGeom prst="rect">
            <a:avLst/>
          </a:prstGeom>
          <a:solidFill>
            <a:srgbClr val="C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5020056"/>
            <a:ext cx="2743200" cy="51206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r>
              <a:rPr sz="1250" b="1" i="0">
                <a:solidFill>
                  <a:srgbClr val="0D2137"/>
                </a:solidFill>
                <a:latin typeface="Calibri"/>
              </a:rPr>
              <a:t>Cox ties method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37560" y="5020056"/>
            <a:ext cx="2834640" cy="51206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r>
              <a:rPr sz="1250" b="1" i="0">
                <a:solidFill>
                  <a:srgbClr val="0B845F"/>
                </a:solidFill>
                <a:latin typeface="Cambria"/>
              </a:rPr>
              <a:t>Breslow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5020056"/>
            <a:ext cx="5349240" cy="51206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r>
              <a:rPr sz="1150" b="0" i="0">
                <a:solidFill>
                  <a:srgbClr val="1E2933"/>
                </a:solidFill>
                <a:latin typeface="Calibri"/>
              </a:rPr>
              <a:t>Matches the published Klein–Moeschberger value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5522976"/>
            <a:ext cx="11155680" cy="9525"/>
          </a:xfrm>
          <a:prstGeom prst="rect">
            <a:avLst/>
          </a:prstGeom>
          <a:solidFill>
            <a:srgbClr val="C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554980"/>
            <a:ext cx="2743200" cy="51206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r>
              <a:rPr sz="1250" b="1" i="0">
                <a:solidFill>
                  <a:srgbClr val="0D2137"/>
                </a:solidFill>
                <a:latin typeface="Calibri"/>
              </a:rPr>
              <a:t>Bootstrap resamples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37560" y="5554980"/>
            <a:ext cx="2834640" cy="51206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r>
              <a:rPr sz="1250" b="1" i="0">
                <a:solidFill>
                  <a:srgbClr val="0B845F"/>
                </a:solidFill>
                <a:latin typeface="Cambria"/>
              </a:rPr>
              <a:t>2000 (fixed seed)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5554980"/>
            <a:ext cx="5349240" cy="51206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r>
              <a:rPr sz="1150" b="0" i="0">
                <a:solidFill>
                  <a:srgbClr val="1E2933"/>
                </a:solidFill>
                <a:latin typeface="Calibri"/>
              </a:rPr>
              <a:t>Stable CIs; fully reproducible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6057900"/>
            <a:ext cx="11155680" cy="9525"/>
          </a:xfrm>
          <a:prstGeom prst="rect">
            <a:avLst/>
          </a:prstGeom>
          <a:solidFill>
            <a:srgbClr val="C5D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6437376"/>
            <a:ext cx="111556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900" b="1" i="0">
                <a:solidFill>
                  <a:srgbClr val="546678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46678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RESULTS ·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94944"/>
            <a:ext cx="111556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</a:rPr>
              <a:t>Every module reproduces its published benchmark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2560320" cy="658368"/>
          </a:xfrm>
          <a:prstGeom prst="rect">
            <a:avLst/>
          </a:prstGeom>
          <a:noFill/>
        </p:spPr>
        <p:txBody>
          <a:bodyPr wrap="square" anchor="b" lIns="38100" rIns="38100" tIns="25400" bIns="25400">
            <a:spAutoFit/>
          </a:bodyPr>
          <a:lstStyle/>
          <a:p>
            <a:pPr algn="ctr"/>
            <a:r>
              <a:rPr sz="3600" b="1" i="0">
                <a:solidFill>
                  <a:srgbClr val="F0A500"/>
                </a:solidFill>
                <a:latin typeface="Calibri"/>
              </a:rPr>
              <a:t>12/12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85416"/>
            <a:ext cx="256032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validation suites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01568" y="1508760"/>
            <a:ext cx="2560320" cy="658368"/>
          </a:xfrm>
          <a:prstGeom prst="rect">
            <a:avLst/>
          </a:prstGeom>
          <a:noFill/>
        </p:spPr>
        <p:txBody>
          <a:bodyPr wrap="square" anchor="b" lIns="38100" rIns="38100" tIns="25400" bIns="25400">
            <a:spAutoFit/>
          </a:bodyPr>
          <a:lstStyle/>
          <a:p>
            <a:pPr algn="ctr"/>
            <a:r>
              <a:rPr sz="3600" b="1" i="0">
                <a:solidFill>
                  <a:srgbClr val="F0A500"/>
                </a:solidFill>
                <a:latin typeface="Calibri"/>
              </a:rPr>
              <a:t>χ² = 16.79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1568" y="2185416"/>
            <a:ext cx="256032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Freireich log-rank (published)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63056" y="1508760"/>
            <a:ext cx="2560320" cy="658368"/>
          </a:xfrm>
          <a:prstGeom prst="rect">
            <a:avLst/>
          </a:prstGeom>
          <a:noFill/>
        </p:spPr>
        <p:txBody>
          <a:bodyPr wrap="square" anchor="b" lIns="38100" rIns="38100" tIns="25400" bIns="25400">
            <a:spAutoFit/>
          </a:bodyPr>
          <a:lstStyle/>
          <a:p>
            <a:pPr algn="ctr"/>
            <a:r>
              <a:rPr sz="3600" b="1" i="0">
                <a:solidFill>
                  <a:srgbClr val="F0A500"/>
                </a:solidFill>
                <a:latin typeface="Calibri"/>
              </a:rPr>
              <a:t>HR = 4.52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63056" y="2185416"/>
            <a:ext cx="256032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Cox hazard ratio (= published)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24544" y="1508760"/>
            <a:ext cx="2560320" cy="658368"/>
          </a:xfrm>
          <a:prstGeom prst="rect">
            <a:avLst/>
          </a:prstGeom>
          <a:noFill/>
        </p:spPr>
        <p:txBody>
          <a:bodyPr wrap="square" anchor="b" lIns="38100" rIns="38100" tIns="25400" bIns="25400">
            <a:spAutoFit/>
          </a:bodyPr>
          <a:lstStyle/>
          <a:p>
            <a:pPr algn="ctr"/>
            <a:r>
              <a:rPr sz="3600" b="1" i="0">
                <a:solidFill>
                  <a:srgbClr val="F0A500"/>
                </a:solidFill>
                <a:latin typeface="Calibri"/>
              </a:rPr>
              <a:t>r = 0.989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24544" y="2185416"/>
            <a:ext cx="256032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MDR decline-rate recovery</a:t>
            </a:r>
          </a:p>
        </p:txBody>
      </p:sp>
      <p:pic>
        <p:nvPicPr>
          <p:cNvPr id="13" name="Picture 12" descr="Figure1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3017520"/>
            <a:ext cx="9509760" cy="564396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2920" y="6355080"/>
            <a:ext cx="111556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1100" b="0" i="1">
                <a:solidFill>
                  <a:srgbClr val="ECF1F8"/>
                </a:solidFill>
                <a:latin typeface="Calibri"/>
              </a:rPr>
              <a:t>KM vs lifelines · climbing kinetics · MDR over age · circadian periodogram · handedness · drug ranking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RESULTS ·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6583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2700" b="1" i="0">
                <a:solidFill>
                  <a:srgbClr val="0D2137"/>
                </a:solidFill>
                <a:latin typeface="Calibri"/>
              </a:rPr>
              <a:t>Perfect agreement with seven independent tools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755648" cy="1371600"/>
          </a:xfrm>
          <a:prstGeom prst="round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 i="0">
                <a:solidFill>
                  <a:srgbClr val="F0A500"/>
                </a:solidFill>
                <a:latin typeface="Calibri"/>
              </a:rPr>
              <a:t>24/24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metrics agree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78608" y="1554480"/>
            <a:ext cx="1755648" cy="1371600"/>
          </a:xfrm>
          <a:prstGeom prst="round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 i="0">
                <a:solidFill>
                  <a:srgbClr val="F0A500"/>
                </a:solidFill>
                <a:latin typeface="Calibri"/>
              </a:rPr>
              <a:t>r = 1.0000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DroPhenix vs reference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17136" y="1554480"/>
            <a:ext cx="1755648" cy="1371600"/>
          </a:xfrm>
          <a:prstGeom prst="round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 i="0">
                <a:solidFill>
                  <a:srgbClr val="F0A500"/>
                </a:solidFill>
                <a:latin typeface="Calibri"/>
              </a:rPr>
              <a:t>7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reference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5577840" cy="2926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>
              <a:lnSpc>
                <a:spcPct val="104000"/>
              </a:lnSpc>
              <a:spcAft>
                <a:spcPts val="900"/>
              </a:spcAft>
            </a:pPr>
            <a:r>
              <a:rPr sz="1300" b="1" i="0">
                <a:solidFill>
                  <a:srgbClr val="F0A500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E2933"/>
                </a:solidFill>
                <a:latin typeface="Calibri"/>
              </a:rPr>
              <a:t>R survival + base R </a:t>
            </a:r>
            <a:r>
              <a:rPr sz="1300" b="0" i="0">
                <a:solidFill>
                  <a:srgbClr val="1E2933"/>
                </a:solidFill>
                <a:latin typeface="Calibri"/>
              </a:rPr>
              <a:t>— KM, log-rank, Cox (Breslow), ANOVA, Kruskal: exact</a:t>
            </a:r>
          </a:p>
          <a:p>
            <a:pPr>
              <a:lnSpc>
                <a:spcPct val="104000"/>
              </a:lnSpc>
              <a:spcAft>
                <a:spcPts val="900"/>
              </a:spcAft>
            </a:pPr>
            <a:r>
              <a:rPr sz="1300" b="1" i="0">
                <a:solidFill>
                  <a:srgbClr val="F0A500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E2933"/>
                </a:solidFill>
                <a:latin typeface="Calibri"/>
              </a:rPr>
              <a:t>lifelines · statsmodels </a:t>
            </a:r>
            <a:r>
              <a:rPr sz="1300" b="0" i="0">
                <a:solidFill>
                  <a:srgbClr val="1E2933"/>
                </a:solidFill>
                <a:latin typeface="Calibri"/>
              </a:rPr>
              <a:t>— survival &amp; meta-analysis: exact to 6 decimals</a:t>
            </a:r>
          </a:p>
          <a:p>
            <a:pPr>
              <a:lnSpc>
                <a:spcPct val="104000"/>
              </a:lnSpc>
              <a:spcAft>
                <a:spcPts val="900"/>
              </a:spcAft>
            </a:pPr>
            <a:r>
              <a:rPr sz="1300" b="1" i="0">
                <a:solidFill>
                  <a:srgbClr val="F0A500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E2933"/>
                </a:solidFill>
                <a:latin typeface="Calibri"/>
              </a:rPr>
              <a:t>scipy · pingouin </a:t>
            </a:r>
            <a:r>
              <a:rPr sz="1300" b="0" i="0">
                <a:solidFill>
                  <a:srgbClr val="1E2933"/>
                </a:solidFill>
                <a:latin typeface="Calibri"/>
              </a:rPr>
              <a:t>— ANOVA / Kruskal / Hedges g: exact</a:t>
            </a:r>
          </a:p>
          <a:p>
            <a:pPr>
              <a:lnSpc>
                <a:spcPct val="104000"/>
              </a:lnSpc>
              <a:spcAft>
                <a:spcPts val="900"/>
              </a:spcAft>
            </a:pPr>
            <a:r>
              <a:rPr sz="1300" b="1" i="0">
                <a:solidFill>
                  <a:srgbClr val="F0A500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E2933"/>
                </a:solidFill>
                <a:latin typeface="Calibri"/>
              </a:rPr>
              <a:t>astropy + pyBOAT </a:t>
            </a:r>
            <a:r>
              <a:rPr sz="1300" b="0" i="0">
                <a:solidFill>
                  <a:srgbClr val="1E2933"/>
                </a:solidFill>
                <a:latin typeface="Calibri"/>
              </a:rPr>
              <a:t>— circadian period 24.00 vs 23.96 h (two methods)</a:t>
            </a:r>
          </a:p>
        </p:txBody>
      </p:sp>
      <p:pic>
        <p:nvPicPr>
          <p:cNvPr id="9" name="Picture 8" descr="Figure3_tool_agre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481328"/>
            <a:ext cx="5446146" cy="4526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437376"/>
            <a:ext cx="111556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900" b="1" i="0">
                <a:solidFill>
                  <a:srgbClr val="546678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46678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RESULTS · REFERENCE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6583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2700" b="1" i="0">
                <a:solidFill>
                  <a:srgbClr val="0D2137"/>
                </a:solidFill>
                <a:latin typeface="Calibri"/>
              </a:rPr>
              <a:t>18/18 literature-referenced datasets reproduce the expectation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2743200" cy="603504"/>
          </a:xfrm>
          <a:prstGeom prst="round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Climbing (×3)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00" y="1554480"/>
            <a:ext cx="8229600" cy="60350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r>
              <a:rPr sz="1300" b="0" i="0">
                <a:solidFill>
                  <a:srgbClr val="1E2933"/>
                </a:solidFill>
                <a:latin typeface="Calibri"/>
              </a:rPr>
              <a:t>WT PI &gt; disease; drug rescues (PD, ALS, HD models)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267712"/>
            <a:ext cx="2743200" cy="603504"/>
          </a:xfrm>
          <a:prstGeom prst="round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Lifespan (×3)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2267712"/>
            <a:ext cx="8229600" cy="60350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r>
              <a:rPr sz="1300" b="0" i="0">
                <a:solidFill>
                  <a:srgbClr val="1E2933"/>
                </a:solidFill>
                <a:latin typeface="Calibri"/>
              </a:rPr>
              <a:t>Freireich 23/8 wk; fly cohorts WT≈50 d &gt; disease; drug extends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980944"/>
            <a:ext cx="2743200" cy="603504"/>
          </a:xfrm>
          <a:prstGeom prst="round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Y-maze (×3)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2980944"/>
            <a:ext cx="8229600" cy="60350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r>
              <a:rPr sz="1300" b="0" i="0">
                <a:solidFill>
                  <a:srgbClr val="1E2933"/>
                </a:solidFill>
                <a:latin typeface="Calibri"/>
              </a:rPr>
              <a:t>WT alternation &gt; memory-mutant; bias≈0.50; ~23.5% extreme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694176"/>
            <a:ext cx="2743200" cy="603504"/>
          </a:xfrm>
          <a:prstGeom prst="round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DAMS (×3)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3694176"/>
            <a:ext cx="8229600" cy="60350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r>
              <a:rPr sz="1300" b="0" i="0">
                <a:solidFill>
                  <a:srgbClr val="1E2933"/>
                </a:solidFill>
                <a:latin typeface="Calibri"/>
              </a:rPr>
              <a:t>periods 24/19/28 h recovered; males sleep &gt; females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407408"/>
            <a:ext cx="2743200" cy="603504"/>
          </a:xfrm>
          <a:prstGeom prst="round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Larval (×3)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4407408"/>
            <a:ext cx="8229600" cy="60350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r>
              <a:rPr sz="1300" b="0" i="0">
                <a:solidFill>
                  <a:srgbClr val="1E2933"/>
                </a:solidFill>
                <a:latin typeface="Calibri"/>
              </a:rPr>
              <a:t>WT ≈ 1 mm/s &gt; disease models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120640"/>
            <a:ext cx="2743200" cy="603504"/>
          </a:xfrm>
          <a:prstGeom prst="round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Grooming (×3)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5120640"/>
            <a:ext cx="8229600" cy="60350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r>
              <a:rPr sz="1300" b="0" i="0">
                <a:solidFill>
                  <a:srgbClr val="1E2933"/>
                </a:solidFill>
                <a:latin typeface="Calibri"/>
              </a:rPr>
              <a:t>WT ≈ 13% time &gt; disease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5852160"/>
            <a:ext cx="82296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1200" b="0" i="1">
                <a:solidFill>
                  <a:srgbClr val="546678"/>
                </a:solidFill>
                <a:latin typeface="Calibri"/>
              </a:rPr>
              <a:t>Each dataset is in the module's upload template — users can download and re-run them.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37376"/>
            <a:ext cx="111556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900" b="1" i="0">
                <a:solidFill>
                  <a:srgbClr val="546678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46678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6583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2700" b="1" i="0">
                <a:solidFill>
                  <a:srgbClr val="0D2137"/>
                </a:solidFill>
                <a:latin typeface="Calibri"/>
              </a:rPr>
              <a:t>What the tool gives you — and in what format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5532120" cy="1371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Interactive tables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00" b="0" i="0">
                <a:solidFill>
                  <a:srgbClr val="1E2933"/>
                </a:solidFill>
                <a:latin typeface="Calibri"/>
              </a:rPr>
              <a:t>Every metric as an on-screen table (sortable), per group.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532120" cy="1371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CSV export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00" b="0" i="0">
                <a:solidFill>
                  <a:srgbClr val="1E2933"/>
                </a:solidFill>
                <a:latin typeface="Calibri"/>
              </a:rPr>
              <a:t>One-click download of each metric table for your own analysis.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072384"/>
            <a:ext cx="5532120" cy="1371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Publication figures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00" b="0" i="0">
                <a:solidFill>
                  <a:srgbClr val="1E2933"/>
                </a:solidFill>
                <a:latin typeface="Calibri"/>
              </a:rPr>
              <a:t>300-dpi PNG / SVG / PDF; colour-blind-safe palette.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072384"/>
            <a:ext cx="5532120" cy="1371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Statistics report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00" b="0" i="0">
                <a:solidFill>
                  <a:srgbClr val="1E2933"/>
                </a:solidFill>
                <a:latin typeface="Calibri"/>
              </a:rPr>
              <a:t>Test used, statistic, p-value, effect size, 95% CI, significance.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590288"/>
            <a:ext cx="5532120" cy="1371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Drug ranking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00" b="0" i="0">
                <a:solidFill>
                  <a:srgbClr val="1E2933"/>
                </a:solidFill>
                <a:latin typeface="Calibri"/>
              </a:rPr>
              <a:t>Per-strain effects, pooled per-assay effects, Therapeutic Score, ranks.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590288"/>
            <a:ext cx="5532120" cy="1371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ZIP bundle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00" b="0" i="0">
                <a:solidFill>
                  <a:srgbClr val="1E2933"/>
                </a:solidFill>
                <a:latin typeface="Calibri"/>
              </a:rPr>
              <a:t>All tables + figures packaged for reproducible journal submission.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37376"/>
            <a:ext cx="111556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900" b="1" i="0">
                <a:solidFill>
                  <a:srgbClr val="546678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46678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6583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2700" b="1" i="0">
                <a:solidFill>
                  <a:srgbClr val="0D2137"/>
                </a:solidFill>
                <a:latin typeface="Calibri"/>
              </a:rPr>
              <a:t>Why DroPhenix is reliable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36192"/>
            <a:ext cx="1115568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Reproduces published data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50" b="0" i="0">
                <a:solidFill>
                  <a:srgbClr val="1E2933"/>
                </a:solidFill>
                <a:latin typeface="Calibri"/>
              </a:rPr>
              <a:t>Textbook datasets (Freireich, PlantGrowth, Konopka–Benzer) return their exact published statistics.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78024"/>
            <a:ext cx="1115568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Agrees with gold-standard software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50" b="0" i="0">
                <a:solidFill>
                  <a:srgbClr val="1E2933"/>
                </a:solidFill>
                <a:latin typeface="Calibri"/>
              </a:rPr>
              <a:t>24/24 metrics match R survival, lifelines, statsmodels, scipy, pingouin, astropy, pyBOAT (r = 1.0000).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419856"/>
            <a:ext cx="1115568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Correct by construction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50" b="0" i="0">
                <a:solidFill>
                  <a:srgbClr val="1E2933"/>
                </a:solidFill>
                <a:latin typeface="Calibri"/>
              </a:rPr>
              <a:t>Assumption-gated tests, FDR control, and the right measurement axis (e.g. MDR over age).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61688"/>
            <a:ext cx="1115568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Independently verifiable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50" b="0" i="0">
                <a:solidFill>
                  <a:srgbClr val="1E2933"/>
                </a:solidFill>
                <a:latin typeface="Calibri"/>
              </a:rPr>
              <a:t>The full validation + comparison suite ships; every number regenerates with one command.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303520"/>
            <a:ext cx="11155680" cy="8229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Honest about limits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50" b="0" i="0">
                <a:solidFill>
                  <a:srgbClr val="1E2933"/>
                </a:solidFill>
                <a:latin typeface="Calibri"/>
              </a:rPr>
              <a:t>Method notes (Breslow vs Efron), un-buildable tools, and simulated-vs-real data are all stated.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37376"/>
            <a:ext cx="111556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900" b="1" i="0">
                <a:solidFill>
                  <a:srgbClr val="546678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46678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1200" b="1" i="0">
                <a:solidFill>
                  <a:srgbClr val="F0A500"/>
                </a:solidFill>
                <a:latin typeface="Calibri"/>
              </a:rPr>
              <a:t>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6583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2700" b="1" i="0">
                <a:solidFill>
                  <a:srgbClr val="0D2137"/>
                </a:solidFill>
                <a:latin typeface="Calibri"/>
              </a:rPr>
              <a:t>Applications — how it helps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5532120" cy="1371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Neurodegeneration screening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00" b="0" i="0">
                <a:solidFill>
                  <a:srgbClr val="1E2933"/>
                </a:solidFill>
                <a:latin typeface="Calibri"/>
              </a:rPr>
              <a:t>Quantify a compound across ALS/PD/HD fly models in climbing, lifespan, cognition, sleep, locomotion.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532120" cy="1371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Cross-strain compound triage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00" b="0" i="0">
                <a:solidFill>
                  <a:srgbClr val="1E2933"/>
                </a:solidFill>
                <a:latin typeface="Calibri"/>
              </a:rPr>
              <a:t>Rank candidates fairly across disease backgrounds of unequal size — the core novelty.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072384"/>
            <a:ext cx="5532120" cy="1371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Translational scoring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00" b="0" i="0">
                <a:solidFill>
                  <a:srgbClr val="1E2933"/>
                </a:solidFill>
                <a:latin typeface="Calibri"/>
              </a:rPr>
              <a:t>Prioritise broad, safe, sustained rescue over sex-discordant or WT-perturbing hits.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072384"/>
            <a:ext cx="5532120" cy="1371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Ageing &amp; circadian biology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00" b="0" i="0">
                <a:solidFill>
                  <a:srgbClr val="1E2933"/>
                </a:solidFill>
                <a:latin typeface="Calibri"/>
              </a:rPr>
              <a:t>Age-resolved motor decline, sleep architecture and free-running period in one workflow.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590288"/>
            <a:ext cx="5532120" cy="1371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Teaching &amp; reproducibility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00" b="0" i="0">
                <a:solidFill>
                  <a:srgbClr val="1E2933"/>
                </a:solidFill>
                <a:latin typeface="Calibri"/>
              </a:rPr>
              <a:t>A transparent, benchmarked reference implementation of standard behavioural statistics.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590288"/>
            <a:ext cx="5532120" cy="1371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C5D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" rIns="114300" tIns="88900" bIns="76200"/>
          <a:lstStyle/>
          <a:p>
            <a:pPr algn="ctr">
              <a:spcAft>
                <a:spcPts val="300"/>
              </a:spcAft>
            </a:pPr>
            <a:r>
              <a:rPr sz="1350" b="1" i="0">
                <a:solidFill>
                  <a:srgbClr val="0D2137"/>
                </a:solidFill>
                <a:latin typeface="Calibri"/>
              </a:rPr>
              <a:t>Open science</a:t>
            </a:r>
          </a:p>
          <a:p>
            <a:pPr>
              <a:lnSpc>
                <a:spcPct val="102000"/>
              </a:lnSpc>
              <a:spcAft>
                <a:spcPts val="150"/>
              </a:spcAft>
            </a:pPr>
            <a:r>
              <a:rPr sz="1200" b="0" i="0">
                <a:solidFill>
                  <a:srgbClr val="1E2933"/>
                </a:solidFill>
                <a:latin typeface="Calibri"/>
              </a:rPr>
              <a:t>Free, no-login web app + open code + data templates lower the barrier for any lab.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37376"/>
            <a:ext cx="111556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900" b="1" i="0">
                <a:solidFill>
                  <a:srgbClr val="546678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546678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94560"/>
            <a:ext cx="12191695" cy="27432"/>
          </a:xfrm>
          <a:prstGeom prst="rect">
            <a:avLst/>
          </a:prstGeom>
          <a:solidFill>
            <a:srgbClr val="F0A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960120"/>
            <a:ext cx="106070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</a:rPr>
              <a:t>From fragmented spreadsheets to one verifiable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468880"/>
            <a:ext cx="1060704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>
              <a:lnSpc>
                <a:spcPct val="104000"/>
              </a:lnSpc>
              <a:spcAft>
                <a:spcPts val="1100"/>
              </a:spcAft>
            </a:pPr>
            <a:r>
              <a:rPr sz="1500" b="1" i="0">
                <a:solidFill>
                  <a:srgbClr val="F0A500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ECF1F8"/>
                </a:solidFill>
                <a:latin typeface="Calibri"/>
              </a:rPr>
              <a:t>Six assays, one platform, </a:t>
            </a:r>
            <a:r>
              <a:rPr sz="1500" b="0" i="0">
                <a:solidFill>
                  <a:srgbClr val="ECF1F8"/>
                </a:solidFill>
                <a:latin typeface="Calibri"/>
              </a:rPr>
              <a:t>with publication-grade statistics throughout.</a:t>
            </a:r>
          </a:p>
          <a:p>
            <a:pPr>
              <a:lnSpc>
                <a:spcPct val="104000"/>
              </a:lnSpc>
              <a:spcAft>
                <a:spcPts val="1100"/>
              </a:spcAft>
            </a:pPr>
            <a:r>
              <a:rPr sz="1500" b="1" i="0">
                <a:solidFill>
                  <a:srgbClr val="F0A500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ECF1F8"/>
                </a:solidFill>
                <a:latin typeface="Calibri"/>
              </a:rPr>
              <a:t>A genuinely novel innovation: </a:t>
            </a:r>
            <a:r>
              <a:rPr sz="1500" b="0" i="0">
                <a:solidFill>
                  <a:srgbClr val="ECF1F8"/>
                </a:solidFill>
                <a:latin typeface="Calibri"/>
              </a:rPr>
              <a:t>actuarial, unequal-N cross-strain compound ranking (19.9% more efficient than naive averaging).</a:t>
            </a:r>
          </a:p>
          <a:p>
            <a:pPr>
              <a:lnSpc>
                <a:spcPct val="104000"/>
              </a:lnSpc>
              <a:spcAft>
                <a:spcPts val="1100"/>
              </a:spcAft>
            </a:pPr>
            <a:r>
              <a:rPr sz="1500" b="1" i="0">
                <a:solidFill>
                  <a:srgbClr val="F0A500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ECF1F8"/>
                </a:solidFill>
                <a:latin typeface="Calibri"/>
              </a:rPr>
              <a:t>Validated and benchmarked: </a:t>
            </a:r>
            <a:r>
              <a:rPr sz="1500" b="0" i="0">
                <a:solidFill>
                  <a:srgbClr val="ECF1F8"/>
                </a:solidFill>
                <a:latin typeface="Calibri"/>
              </a:rPr>
              <a:t>reproduces published data and agrees with gold-standard software on 24/24 checks.</a:t>
            </a:r>
          </a:p>
          <a:p>
            <a:pPr>
              <a:lnSpc>
                <a:spcPct val="104000"/>
              </a:lnSpc>
              <a:spcAft>
                <a:spcPts val="1100"/>
              </a:spcAft>
            </a:pPr>
            <a:r>
              <a:rPr sz="1500" b="1" i="0">
                <a:solidFill>
                  <a:srgbClr val="F0A500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ECF1F8"/>
                </a:solidFill>
                <a:latin typeface="Calibri"/>
              </a:rPr>
              <a:t>Free and open: </a:t>
            </a:r>
            <a:r>
              <a:rPr sz="1500" b="0" i="0">
                <a:solidFill>
                  <a:srgbClr val="ECF1F8"/>
                </a:solidFill>
                <a:latin typeface="Calibri"/>
              </a:rPr>
              <a:t>drophenix.streamlit.app · GitHub · GPL-3 · manuscript prepared for Nucleic Acids Research.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111556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r>
              <a:rPr sz="900" b="1" i="0">
                <a:solidFill>
                  <a:srgbClr val="F0A500"/>
                </a:solidFill>
                <a:latin typeface="Calibri"/>
              </a:rPr>
              <a:t>DroPhenix Analytics v3.0</a:t>
            </a:r>
            <a:r>
              <a:rPr sz="900" b="0" i="0">
                <a:solidFill>
                  <a:srgbClr val="ECF1F8"/>
                </a:solidFill>
                <a:latin typeface="Calibri"/>
              </a:rPr>
              <a:t>   ·   drophenix.streamlit.app   ·   SSSIHL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