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DroPhenix is a free website that automatically analyses experiments done on fruit flies (Drosophila melanogaster). Fruit flies are the workhorse "model organism" for brain-disease research — they share roughly three-quarters of human disease genes, are cheap, and live only weeks, so a whole disease-and-drug experiment finishes fast. We turned six separate, commonly-used fly tests into one reliable, automated analysis tool, and added a brand-new statistical method for comparing drugs fairly.</a:t>
            </a:r>
          </a:p>
          <a:p>
            <a:r>
              <a:t>TALKING POINTS: Built at SSSIHL. Free, no login. Headline proof up front: it agrees with the world's gold-standard analysis software on 24 out of 24 checks (perfect correlation), and every one of its results was checked against published scientific data.</a:t>
            </a:r>
          </a:p>
          <a:p>
            <a:r>
              <a:t>EXPERT MIGHT ASK: "Why Drosophila rather than mice?" — Faster, far cheaper, genetically tractable, and the standard first-pass model for ALS, Parkinson's and Huntington's. "Is this novel or just a wrapper?" — Both: it standardises best-practice statistics AND introduces a genuinely new cross-strain ranking method (slide 4).</a:t>
            </a:r>
          </a:p>
          <a:p>
            <a:r>
              <a:t>NON-SCIENTIST / INVESTOR MIGHT ASK: "What does it actually do for a user?" — You upload your experiment's raw numbers; it produces the correct graphs and statistics automatically and tells you which drug candidate performs best. "Who is it for?" — Academic fly labs and pre-clinical drug-screening groups.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An "assay" is just a standard laboratory test. Today, labs analyse each of these six tests separately, often by hand in Excel, using inconsistent statistics. Worse, when different genetic strains of fly are tested with different numbers of animals, there is no accepted, fair way to combine the results.</a:t>
            </a:r>
          </a:p>
          <a:p>
            <a:r>
              <a:t>DEFINE: "Under-powered" = too little data / wrong method, so real effects are missed or false ones appear. "Kaplan-Meier / log-rank / Cox" = the standard, rigorous ways to analyse survival (lifespan) data used in clinical trials.</a:t>
            </a:r>
          </a:p>
          <a:p>
            <a:r>
              <a:t>EXPERT MIGHT ASK: "Isn't survival analysis already standard?" — In clinical statistics yes, but fly-lifespan papers frequently report only the median and skip the survival curve, the log-rank test and the hazard model; we bring those to the bench by default.</a:t>
            </a:r>
          </a:p>
          <a:p>
            <a:r>
              <a:t>NON-SCIENTIST MIGHT ASK: "Why is unequal numbers such a big deal?" — Analogy: if you average a survey of 3 people and a survey of 700 people with equal weight, the tiny, noisy survey distorts the answer. The same happens when you compare drug effects across fly strains of very different size — and that is exactly the everyday screening situation.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This is the full menu. Each card is one analysis module. Six are biological tests: climbing (do the flies climb up — a motor/health readout), lifespan (how long they live), Y-maze (a simple memory/behaviour test), DAMS (sleep and body-clock), larval crawling (baby-fly movement), and grooming (self-cleaning behaviour). The other three are analytical: Motor Decline Rate (how fast climbing worsens with age), trajectory clustering (grouping similar response patterns automatically), and Drug Ranking (our headline innovation).</a:t>
            </a:r>
          </a:p>
          <a:p>
            <a:r>
              <a:t>DEFINE: "Negative geotaxis" = flies instinctively climb upward after being tapped down; how well they climb measures neuromuscular health.</a:t>
            </a:r>
          </a:p>
          <a:p>
            <a:r>
              <a:t>EXPERT MIGHT ASK: "Do the video modules replace dedicated trackers?" — For counting and single-larva speed, yes; full multi-animal pose tracking is out of scope and stated as such.</a:t>
            </a:r>
          </a:p>
          <a:p>
            <a:r>
              <a:t>NON-SCIENTIST MIGHT ASK: "Why so many tests?" — Different diseases hit different systems (movement, memory, sleep, lifespan). Testing across all of them gives a fuller, more trustworthy picture of whether a drug truly helps.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 THE KEY SLIDE: This is what makes DroPhenix new. When you test a drug in several fly disease-strains that have different numbers of animals, how do you fairly combine the results into one score? We borrow a method from medical "meta-analysis" (the science of combining many studies). Each strain's result is weighted by how reliable it is: bigger, less-noisy strains count more; small noisy ones count less but are not thrown away.</a:t>
            </a:r>
          </a:p>
          <a:p>
            <a:r>
              <a:t>DEFINE: "Hedges' g / effect size" = a standardised measure of how big a drug's effect is, comparable across experiments. "Inverse-variance / DerSimonian-Laird pooling" = the mathematically optimal recipe for weighting and combining those results. The forest plot (right) shows each strain's effect and the combined answer (green diamond).</a:t>
            </a:r>
          </a:p>
          <a:p>
            <a:r>
              <a:t>PROOF: In 3,000 simulated experiments where we knew the true answer, our method was 19.9% more accurate than simple averaging and its confidence intervals were correctly calibrated (95.8% vs a 95% target).</a:t>
            </a:r>
          </a:p>
          <a:p>
            <a:r>
              <a:t>EXPERT MIGHT ASK: "Why DerSimonian-Laird over a fixed effect?" — It accounts for genuine strain-to-strain differences (heterogeneity, reported as I-squared). "Is the pooling implemented correctly?" — It matches statsmodels to six decimals.</a:t>
            </a:r>
          </a:p>
          <a:p>
            <a:r>
              <a:t>NON-SCIENTIST MIGHT ASK: "So what's the business value?" — A more accurate, defensible ranking of drug candidates means fewer wrong bets carried forward — real money saved in a screening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For transparency, here is the exact formula behind each module and, crucially, WHY we use it. There is no hidden "black box"; every number can be traced to a published, standard equation.</a:t>
            </a:r>
          </a:p>
          <a:p>
            <a:r>
              <a:t>DEFINE a few: "PI (Performance Index)" scales climbing from -100 (none climb) to +100 (all climb). "Hazard ratio" = how many times higher the risk of death is in one group vs another. "Periodogram" = a method that finds the body-clock period (near 24 h) hidden in activity data.</a:t>
            </a:r>
          </a:p>
          <a:p>
            <a:r>
              <a:t>EXPERT MIGHT ASK: "Why fit motor decline over age, not over the assay seconds?" — Because within one climbing test the flies are rising (PI increases over seconds); decline is a property of ageing across days. Fitting decay to the seconds axis is a category error we deliberately avoid.</a:t>
            </a:r>
          </a:p>
          <a:p>
            <a:r>
              <a:t>NON-SCIENTIST MIGHT ASK: "Why show formulas at all?" — Trust. Reviewers and regulators want to see that we use the accepted, textbook methods — not something invented and unverifiable.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Good statistics is about choosing the right test for your data, not always using the same one. DroPhenix first checks the shape of your data (is it bell-curved? do the groups vary similarly?) and then automatically picks the correct test. It always reports not just "is it significant" but "how big is the effect", and it corrects for the fact that running many comparisons produces false positives by chance.</a:t>
            </a:r>
          </a:p>
          <a:p>
            <a:r>
              <a:t>DEFINE: "Effect size" = the practical size of a difference. "False-discovery-rate (Benjamini-Hochberg) correction" = a safeguard so that testing many things at once doesn't throw up flukes. "Bootstrap confidence interval" = a range showing how sure we are, obtained by resampling the data thousands of times.</a:t>
            </a:r>
          </a:p>
          <a:p>
            <a:r>
              <a:t>EXPERT MIGHT ASK: "What are the gating thresholds?" — Shapiro-Wilk and Levene at 0.05, with a minimum n of 5 before a parametric test is allowed; otherwise non-parametric.</a:t>
            </a:r>
          </a:p>
          <a:p>
            <a:r>
              <a:t>NON-SCIENTIST MIGHT ASK: "Why does this matter commercially?" — It is the difference between a result that survives peer review / due-diligence and one that quietly falls apart.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The software is built entirely from well-established, open-source scientific tools — nothing exotic or proprietary. Streamlit gives the browser interface; NumPy/pandas/SciPy do the maths; statsmodels provides the peer-reviewed survival and meta-analysis engine; OpenCV reads the videos; Matplotlib/Plotly draw the figures.</a:t>
            </a:r>
          </a:p>
          <a:p>
            <a:r>
              <a:t>IMPORTANT DISTINCTION: DroPhenix is NOT an "AI model" that was "trained" on data with hidden weights. It is deterministic — the fly detection uses a classic image-brightness threshold (Otsu), the clustering is unsupervised, and every statistic is a closed-form formula. Same input always gives the same output, and every step is inspectable.</a:t>
            </a:r>
          </a:p>
          <a:p>
            <a:r>
              <a:t>EXPERT MIGHT ASK: "Why not scikit-survival?" — It would not build in our environment (needs a C compiler / no Python-3.13 wheel); we instead validate survival against R's survival package and lifelines, covering both tie-handling methods.</a:t>
            </a:r>
          </a:p>
          <a:p>
            <a:r>
              <a:t>NON-SCIENTIST MIGHT ASK: "Is it a machine-learning / AI product?" — No, and that is a strength here: results are exact, reproducible and explainable, not a probabilistic guess.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Any tool is only as trustworthy as the data used to test it. We were scrupulously honest about our data. Where real published raw data existed and was retrievable, we used it directly (the famous 1963 leukemia survival dataset; a classic statistics dataset). Where only summary numbers were published, we generated example datasets calibrated to those published numbers and clearly LABELLED them as simulated — we never present a simulation as if it were real data.</a:t>
            </a:r>
          </a:p>
          <a:p>
            <a:r>
              <a:t>DEFINE: "Free-running period" = the fly's internal body-clock length when kept in constant darkness; wild-type is ~24 h.</a:t>
            </a:r>
          </a:p>
          <a:p>
            <a:r>
              <a:t>EXPERT MIGHT ASK: "Why not pull raw supplements for every assay?" — Many are deposited as binary Excel/zip on repositories that were not machine-readable in our build environment; rather than fabricate, we used cited parameters and labelled them.</a:t>
            </a:r>
          </a:p>
          <a:p>
            <a:r>
              <a:t>NON-SCIENTIST MIGHT ASK: "How do I know the numbers aren't cherry-picked?" — Every dataset lists its source; 18 of 18 reproduce the published expectation; and the code to regenerate them ships with the tool.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A common worry is that developers "tune" settings until the tool gives a flattering answer. We did the opposite: every key setting comes straight from the published literature, with the citation. For example, a fly is scored as "asleep" after 5 minutes of no movement — that is the field's accepted definition, not our choice.</a:t>
            </a:r>
          </a:p>
          <a:p>
            <a:r>
              <a:t>WHY EACH: the 5-minute sleep rule, the 50% chance level for the memory test, the 24/19/28-hour reference clock periods, and the Breslow method for the survival model are all standard, published values. Using them means our results are directly comparable to the literature.</a:t>
            </a:r>
          </a:p>
          <a:p>
            <a:r>
              <a:t>EXPERT MIGHT ASK: "Is the periodogram multiplicity-corrected?" — Yes; without a Bonferroni correction across tested periods the false-positive rate would balloon; we verified 0% false positives on rhythm-free data.</a:t>
            </a:r>
          </a:p>
          <a:p>
            <a:r>
              <a:t>NON-SCIENTIST MIGHT ASK: "In one sentence, why trust the settings?" — Because we did not invent them — they are the community's own standards, cited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This is the evidence that the tool is correct. We ran 12 automated test suites; all 12 pass. On famous published datasets, DroPhenix returns the exact published numbers — for example the 1963 leukemia trial's log-rank statistic (16.79) and hazard ratio (4.52). The six-panel figure shows one real result per module.</a:t>
            </a:r>
          </a:p>
          <a:p>
            <a:r>
              <a:t>DEFINE: "Log-rank / hazard ratio" = standard survival statistics; matching the published value to the decimal means our maths is right.</a:t>
            </a:r>
          </a:p>
          <a:p>
            <a:r>
              <a:t>EXPERT MIGHT ASK: "Are these live or hard-coded?" — Live: generated by the shipped scripts; anyone can rerun run_all.py and reproduce them.</a:t>
            </a:r>
          </a:p>
          <a:p>
            <a:r>
              <a:t>NON-SCIENTIST MIGHT ASK: "What does '12/12 pass' mean?" — Think of it as 12 independent MOT/inspection tests of the tool's accuracy; it passed every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Beyond matching published papers, we ran the SAME data through seven independent, world-standard analysis programs (including R, the statistics language used across academia and pharma) and compared every number. Across 24 comparisons the agreement is perfect (correlation r = 1.0000) — the scatter plot shows every point sitting exactly on the diagonal "perfect-agreement" line.</a:t>
            </a:r>
          </a:p>
          <a:p>
            <a:r>
              <a:t>DEFINE: "R survival / lifelines / statsmodels / astropy / pyBOAT" = the reference tools domain experts already trust; if we match them, we inherit that trust.</a:t>
            </a:r>
          </a:p>
          <a:p>
            <a:r>
              <a:t>EXPERT MIGHT ASK: "You noted one Cox value differs (4.52 vs 4.82)?" — That is the known Breslow-vs-Efron tie-handling difference, not an error; our Breslow value matches R's Breslow to five figures and the published value. We report it transparently as a method note.</a:t>
            </a:r>
          </a:p>
          <a:p>
            <a:r>
              <a:t>NON-SCIENTIST MIGHT ASK: "Why compare to other tools if yours is new?" — To prove we did not reinvent the wheel incorrectly; matching the trusted tools is the strongest possible reassurance.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Pulling it together — five concrete reasons the tool can be trusted. It reproduces published results, it agrees with gold-standard software, it uses the correct method by design, anyone can independently rerun and verify every number with a single command, and we are explicit about every limitation rather than hiding them.</a:t>
            </a:r>
          </a:p>
          <a:p>
            <a:r>
              <a:t>TALKING POINT: "Correct by construction" means correctness is built into the method choice, not patched afterwards.</a:t>
            </a:r>
          </a:p>
          <a:p>
            <a:r>
              <a:t>EXPERT MIGHT ASK: "How is reproducibility guaranteed?" — Fixed random seeds and the full validation + comparison code ship with the software; results are deterministic.</a:t>
            </a:r>
          </a:p>
          <a:p>
            <a:r>
              <a:t>NON-SCIENTIST MIGHT ASK: "What if it gives a wrong answer?" — Because it is transparent and benchmarked, any discrepancy is visible and traceable — unlike a black-box tool where you simply have to hope.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Where this helps. The biggest use is drug screening for brain diseases: quickly and fairly judging whether a compound helps across several fly disease models and several types of test. Other uses include ageing and body-clock research, teaching rigorous statistics, and open, reproducible science.</a:t>
            </a:r>
          </a:p>
          <a:p>
            <a:r>
              <a:t>COMMERCIAL ANGLE: In a screening pipeline, a fairer, more accurate ranking of candidates means fewer false leads advanced — directly reducing wasted downstream cost. It is free and browser-based, so adoption cost is essentially zero.</a:t>
            </a:r>
          </a:p>
          <a:p>
            <a:r>
              <a:t>EXPERT MIGHT ASK: "Can it ingest my lab's existing data?" — Yes; each module has a documented upload template, and the formats match common bench outputs.</a:t>
            </a:r>
          </a:p>
          <a:p>
            <a:r>
              <a:t>NON-SCIENTIST MIGHT ASK: "What is the path to impact / revenue?" — Adoption by fly labs and pre-clinical CROs; the transparent, validated core is also a foundation for paid, hosted or extended commercial versions.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The takeaway. We turned six scattered, manually-analysed fly experiments into a single, automated, rigorously-validated web tool — and added a genuinely new, more efficient way to rank drugs across unequal-sized strains. It is free, open, and prepared for publication in a leading journal (Nucleic Acids Research).</a:t>
            </a:r>
          </a:p>
          <a:p>
            <a:r>
              <a:t>CLOSE ON: reliability (24/24 tool agreement, reproduces published data) + novelty (19.9% more efficient ranking) + accessibility (free web app).</a:t>
            </a:r>
          </a:p>
          <a:p>
            <a:r>
              <a:t>LIKELY FINAL QUESTIONS: Expert — "What's next?" More assays and community-contributed modules; hosted deployment. Non-scientist — "How do I try it?" Just open drophenix.streamlit.app in any browser; no install, no login.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74519"/>
            <a:ext cx="12191695" cy="27432"/>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365760"/>
          </a:xfrm>
          <a:prstGeom prst="rect">
            <a:avLst/>
          </a:prstGeom>
          <a:noFill/>
        </p:spPr>
        <p:txBody>
          <a:bodyPr wrap="square" anchor="t" lIns="25400" rIns="25400" tIns="25400" bIns="25400">
            <a:spAutoFit/>
          </a:bodyPr>
          <a:lstStyle/>
          <a:p>
            <a:r>
              <a:rPr sz="1300" b="1" i="0">
                <a:solidFill>
                  <a:srgbClr val="F0A500"/>
                </a:solidFill>
                <a:latin typeface="Calibri"/>
              </a:rPr>
              <a:t>SCIENCE FOR SOCIETY  ·  SSSIHL  ·  SAI-NET</a:t>
            </a:r>
          </a:p>
        </p:txBody>
      </p:sp>
      <p:sp>
        <p:nvSpPr>
          <p:cNvPr id="5" name="TextBox 4"/>
          <p:cNvSpPr txBox="1"/>
          <p:nvPr/>
        </p:nvSpPr>
        <p:spPr>
          <a:xfrm>
            <a:off x="822960" y="1005840"/>
            <a:ext cx="10607040" cy="914400"/>
          </a:xfrm>
          <a:prstGeom prst="rect">
            <a:avLst/>
          </a:prstGeom>
          <a:noFill/>
        </p:spPr>
        <p:txBody>
          <a:bodyPr wrap="square" anchor="t" lIns="25400" rIns="25400" tIns="25400" bIns="25400">
            <a:spAutoFit/>
          </a:bodyPr>
          <a:lstStyle/>
          <a:p>
            <a:r>
              <a:rPr sz="4600" b="1" i="0">
                <a:solidFill>
                  <a:srgbClr val="FFFFFF"/>
                </a:solidFill>
                <a:latin typeface="Calibri"/>
              </a:rPr>
              <a:t>DroPhenix </a:t>
            </a:r>
            <a:r>
              <a:rPr sz="4600" b="1" i="0">
                <a:solidFill>
                  <a:srgbClr val="F0A500"/>
                </a:solidFill>
                <a:latin typeface="Calibri"/>
              </a:rPr>
              <a:t>Analytics</a:t>
            </a:r>
          </a:p>
        </p:txBody>
      </p:sp>
      <p:sp>
        <p:nvSpPr>
          <p:cNvPr id="6" name="TextBox 5"/>
          <p:cNvSpPr txBox="1"/>
          <p:nvPr/>
        </p:nvSpPr>
        <p:spPr>
          <a:xfrm>
            <a:off x="822960" y="2057400"/>
            <a:ext cx="10607040" cy="548640"/>
          </a:xfrm>
          <a:prstGeom prst="rect">
            <a:avLst/>
          </a:prstGeom>
          <a:noFill/>
        </p:spPr>
        <p:txBody>
          <a:bodyPr wrap="square" anchor="t" lIns="25400" rIns="25400" tIns="25400" bIns="25400">
            <a:spAutoFit/>
          </a:bodyPr>
          <a:lstStyle/>
          <a:p>
            <a:r>
              <a:rPr sz="1800" b="0" i="0">
                <a:solidFill>
                  <a:srgbClr val="EEF2F9"/>
                </a:solidFill>
                <a:latin typeface="Calibri"/>
              </a:rPr>
              <a:t>A statistically rigorous web platform for multi-assay Drosophila phenotyping and actuarial cross-strain compound ranking</a:t>
            </a:r>
          </a:p>
        </p:txBody>
      </p:sp>
      <p:sp>
        <p:nvSpPr>
          <p:cNvPr id="7" name="TextBox 6"/>
          <p:cNvSpPr txBox="1"/>
          <p:nvPr/>
        </p:nvSpPr>
        <p:spPr>
          <a:xfrm>
            <a:off x="822960" y="3383280"/>
            <a:ext cx="2468880" cy="685800"/>
          </a:xfrm>
          <a:prstGeom prst="rect">
            <a:avLst/>
          </a:prstGeom>
          <a:noFill/>
        </p:spPr>
        <p:txBody>
          <a:bodyPr wrap="square" anchor="b" lIns="25400" rIns="25400" tIns="25400" bIns="25400">
            <a:spAutoFit/>
          </a:bodyPr>
          <a:lstStyle/>
          <a:p>
            <a:pPr algn="ctr"/>
            <a:r>
              <a:rPr sz="4000" b="1" i="0">
                <a:solidFill>
                  <a:srgbClr val="F0A500"/>
                </a:solidFill>
                <a:latin typeface="Calibri"/>
              </a:rPr>
              <a:t>6</a:t>
            </a:r>
          </a:p>
        </p:txBody>
      </p:sp>
      <p:sp>
        <p:nvSpPr>
          <p:cNvPr id="8" name="TextBox 7"/>
          <p:cNvSpPr txBox="1"/>
          <p:nvPr/>
        </p:nvSpPr>
        <p:spPr>
          <a:xfrm>
            <a:off x="822960" y="4096512"/>
            <a:ext cx="2468880" cy="502920"/>
          </a:xfrm>
          <a:prstGeom prst="rect">
            <a:avLst/>
          </a:prstGeom>
          <a:noFill/>
        </p:spPr>
        <p:txBody>
          <a:bodyPr wrap="square" anchor="t" lIns="25400" rIns="25400" tIns="25400" bIns="25400">
            <a:spAutoFit/>
          </a:bodyPr>
          <a:lstStyle/>
          <a:p>
            <a:pPr algn="ctr"/>
            <a:r>
              <a:rPr sz="1150" b="0" i="0">
                <a:solidFill>
                  <a:srgbClr val="FFFFFF"/>
                </a:solidFill>
                <a:latin typeface="Calibri"/>
              </a:rPr>
              <a:t>assays</a:t>
            </a:r>
          </a:p>
        </p:txBody>
      </p:sp>
      <p:sp>
        <p:nvSpPr>
          <p:cNvPr id="9" name="TextBox 8"/>
          <p:cNvSpPr txBox="1"/>
          <p:nvPr/>
        </p:nvSpPr>
        <p:spPr>
          <a:xfrm>
            <a:off x="3566160" y="3383280"/>
            <a:ext cx="2468880" cy="685800"/>
          </a:xfrm>
          <a:prstGeom prst="rect">
            <a:avLst/>
          </a:prstGeom>
          <a:noFill/>
        </p:spPr>
        <p:txBody>
          <a:bodyPr wrap="square" anchor="b" lIns="25400" rIns="25400" tIns="25400" bIns="25400">
            <a:spAutoFit/>
          </a:bodyPr>
          <a:lstStyle/>
          <a:p>
            <a:pPr algn="ctr"/>
            <a:r>
              <a:rPr sz="4000" b="1" i="0">
                <a:solidFill>
                  <a:srgbClr val="F0A500"/>
                </a:solidFill>
                <a:latin typeface="Calibri"/>
              </a:rPr>
              <a:t>24/24</a:t>
            </a:r>
          </a:p>
        </p:txBody>
      </p:sp>
      <p:sp>
        <p:nvSpPr>
          <p:cNvPr id="10" name="TextBox 9"/>
          <p:cNvSpPr txBox="1"/>
          <p:nvPr/>
        </p:nvSpPr>
        <p:spPr>
          <a:xfrm>
            <a:off x="3566160" y="4096512"/>
            <a:ext cx="2468880" cy="502920"/>
          </a:xfrm>
          <a:prstGeom prst="rect">
            <a:avLst/>
          </a:prstGeom>
          <a:noFill/>
        </p:spPr>
        <p:txBody>
          <a:bodyPr wrap="square" anchor="t" lIns="25400" rIns="25400" tIns="25400" bIns="25400">
            <a:spAutoFit/>
          </a:bodyPr>
          <a:lstStyle/>
          <a:p>
            <a:pPr algn="ctr"/>
            <a:r>
              <a:rPr sz="1150" b="0" i="0">
                <a:solidFill>
                  <a:srgbClr val="FFFFFF"/>
                </a:solidFill>
                <a:latin typeface="Calibri"/>
              </a:rPr>
              <a:t>tool checks agree</a:t>
            </a:r>
          </a:p>
        </p:txBody>
      </p:sp>
      <p:sp>
        <p:nvSpPr>
          <p:cNvPr id="11" name="TextBox 10"/>
          <p:cNvSpPr txBox="1"/>
          <p:nvPr/>
        </p:nvSpPr>
        <p:spPr>
          <a:xfrm>
            <a:off x="6309360" y="3383280"/>
            <a:ext cx="2468880" cy="685800"/>
          </a:xfrm>
          <a:prstGeom prst="rect">
            <a:avLst/>
          </a:prstGeom>
          <a:noFill/>
        </p:spPr>
        <p:txBody>
          <a:bodyPr wrap="square" anchor="b" lIns="25400" rIns="25400" tIns="25400" bIns="25400">
            <a:spAutoFit/>
          </a:bodyPr>
          <a:lstStyle/>
          <a:p>
            <a:pPr algn="ctr"/>
            <a:r>
              <a:rPr sz="4000" b="1" i="0">
                <a:solidFill>
                  <a:srgbClr val="F0A500"/>
                </a:solidFill>
                <a:latin typeface="Calibri"/>
              </a:rPr>
              <a:t>r = 1.0000</a:t>
            </a:r>
          </a:p>
        </p:txBody>
      </p:sp>
      <p:sp>
        <p:nvSpPr>
          <p:cNvPr id="12" name="TextBox 11"/>
          <p:cNvSpPr txBox="1"/>
          <p:nvPr/>
        </p:nvSpPr>
        <p:spPr>
          <a:xfrm>
            <a:off x="6309360" y="4096512"/>
            <a:ext cx="2468880" cy="502920"/>
          </a:xfrm>
          <a:prstGeom prst="rect">
            <a:avLst/>
          </a:prstGeom>
          <a:noFill/>
        </p:spPr>
        <p:txBody>
          <a:bodyPr wrap="square" anchor="t" lIns="25400" rIns="25400" tIns="25400" bIns="25400">
            <a:spAutoFit/>
          </a:bodyPr>
          <a:lstStyle/>
          <a:p>
            <a:pPr algn="ctr"/>
            <a:r>
              <a:rPr sz="1150" b="0" i="0">
                <a:solidFill>
                  <a:srgbClr val="FFFFFF"/>
                </a:solidFill>
                <a:latin typeface="Calibri"/>
              </a:rPr>
              <a:t>vs gold-standard software</a:t>
            </a:r>
          </a:p>
        </p:txBody>
      </p:sp>
      <p:sp>
        <p:nvSpPr>
          <p:cNvPr id="13" name="TextBox 12"/>
          <p:cNvSpPr txBox="1"/>
          <p:nvPr/>
        </p:nvSpPr>
        <p:spPr>
          <a:xfrm>
            <a:off x="9052560" y="3383280"/>
            <a:ext cx="2468880" cy="685800"/>
          </a:xfrm>
          <a:prstGeom prst="rect">
            <a:avLst/>
          </a:prstGeom>
          <a:noFill/>
        </p:spPr>
        <p:txBody>
          <a:bodyPr wrap="square" anchor="b" lIns="25400" rIns="25400" tIns="25400" bIns="25400">
            <a:spAutoFit/>
          </a:bodyPr>
          <a:lstStyle/>
          <a:p>
            <a:pPr algn="ctr"/>
            <a:r>
              <a:rPr sz="4000" b="1" i="0">
                <a:solidFill>
                  <a:srgbClr val="F0A500"/>
                </a:solidFill>
                <a:latin typeface="Calibri"/>
              </a:rPr>
              <a:t>18/18</a:t>
            </a:r>
          </a:p>
        </p:txBody>
      </p:sp>
      <p:sp>
        <p:nvSpPr>
          <p:cNvPr id="14" name="TextBox 13"/>
          <p:cNvSpPr txBox="1"/>
          <p:nvPr/>
        </p:nvSpPr>
        <p:spPr>
          <a:xfrm>
            <a:off x="9052560" y="4096512"/>
            <a:ext cx="2468880" cy="502920"/>
          </a:xfrm>
          <a:prstGeom prst="rect">
            <a:avLst/>
          </a:prstGeom>
          <a:noFill/>
        </p:spPr>
        <p:txBody>
          <a:bodyPr wrap="square" anchor="t" lIns="25400" rIns="25400" tIns="25400" bIns="25400">
            <a:spAutoFit/>
          </a:bodyPr>
          <a:lstStyle/>
          <a:p>
            <a:pPr algn="ctr"/>
            <a:r>
              <a:rPr sz="1150" b="0" i="0">
                <a:solidFill>
                  <a:srgbClr val="FFFFFF"/>
                </a:solidFill>
                <a:latin typeface="Calibri"/>
              </a:rPr>
              <a:t>reference datasets</a:t>
            </a:r>
          </a:p>
        </p:txBody>
      </p:sp>
      <p:sp>
        <p:nvSpPr>
          <p:cNvPr id="15" name="TextBox 14"/>
          <p:cNvSpPr txBox="1"/>
          <p:nvPr/>
        </p:nvSpPr>
        <p:spPr>
          <a:xfrm>
            <a:off x="822960" y="5806440"/>
            <a:ext cx="10607040" cy="457200"/>
          </a:xfrm>
          <a:prstGeom prst="rect">
            <a:avLst/>
          </a:prstGeom>
          <a:noFill/>
        </p:spPr>
        <p:txBody>
          <a:bodyPr wrap="square" anchor="t" lIns="25400" rIns="25400" tIns="25400" bIns="25400">
            <a:spAutoFit/>
          </a:bodyPr>
          <a:lstStyle/>
          <a:p>
            <a:r>
              <a:rPr sz="1300" b="0" i="0">
                <a:solidFill>
                  <a:srgbClr val="EEF2F9"/>
                </a:solidFill>
                <a:latin typeface="Calibri"/>
              </a:rPr>
              <a:t>Krishnasalini Gunanathan  ·  Venketesh Sivaramakrishnan   |   Dept. of Biosciences, SSSIHL</a:t>
            </a:r>
          </a:p>
        </p:txBody>
      </p:sp>
      <p:sp>
        <p:nvSpPr>
          <p:cNvPr id="16" name="TextBox 15"/>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F0A500"/>
                </a:solidFill>
                <a:latin typeface="Calibri"/>
              </a:rPr>
              <a:t>DroPhenix Analytics v3.0</a:t>
            </a:r>
            <a:r>
              <a:rPr sz="900" b="0" i="0">
                <a:solidFill>
                  <a:srgbClr val="EEF2F9"/>
                </a:solidFill>
                <a:latin typeface="Calibri"/>
              </a:rPr>
              <a:t>   ·   drophenix.streamlit.app   ·   SSSIHL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MOTIVATION</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The problem we set out to solve</a:t>
            </a:r>
          </a:p>
        </p:txBody>
      </p:sp>
      <p:sp>
        <p:nvSpPr>
          <p:cNvPr id="5" name="TextBox 4"/>
          <p:cNvSpPr txBox="1"/>
          <p:nvPr/>
        </p:nvSpPr>
        <p:spPr>
          <a:xfrm>
            <a:off x="548640" y="1600200"/>
            <a:ext cx="5852160" cy="4572000"/>
          </a:xfrm>
          <a:prstGeom prst="rect">
            <a:avLst/>
          </a:prstGeom>
          <a:noFill/>
        </p:spPr>
        <p:txBody>
          <a:bodyPr wrap="square" anchor="t" lIns="25400" rIns="25400" tIns="25400" bIns="25400">
            <a:spAutoFit/>
          </a:bodyPr>
          <a:lstStyle/>
          <a:p>
            <a:pPr>
              <a:lnSpc>
                <a:spcPct val="105000"/>
              </a:lnSpc>
              <a:spcAft>
                <a:spcPts val="1200"/>
              </a:spcAft>
            </a:pPr>
            <a:r>
              <a:rPr sz="1450" b="1" i="0">
                <a:solidFill>
                  <a:srgbClr val="F0A500"/>
                </a:solidFill>
                <a:latin typeface="Calibri"/>
              </a:rPr>
              <a:t>•  </a:t>
            </a:r>
            <a:r>
              <a:rPr sz="1450" b="1" i="0">
                <a:solidFill>
                  <a:srgbClr val="1E2933"/>
                </a:solidFill>
                <a:latin typeface="Calibri"/>
              </a:rPr>
              <a:t>Fragmented analysis. </a:t>
            </a:r>
            <a:r>
              <a:rPr sz="1450" b="0" i="0">
                <a:solidFill>
                  <a:srgbClr val="1E2933"/>
                </a:solidFill>
                <a:latin typeface="Calibri"/>
              </a:rPr>
              <a:t>Six standard Drosophila assays — climbing, lifespan, Y-maze, sleep/circadian (DAMS), larval crawling, grooming — are analysed in disconnected spreadsheets and single-purpose scripts.</a:t>
            </a:r>
          </a:p>
          <a:p>
            <a:pPr>
              <a:lnSpc>
                <a:spcPct val="105000"/>
              </a:lnSpc>
              <a:spcAft>
                <a:spcPts val="1200"/>
              </a:spcAft>
            </a:pPr>
            <a:r>
              <a:rPr sz="1450" b="1" i="0">
                <a:solidFill>
                  <a:srgbClr val="F0A500"/>
                </a:solidFill>
                <a:latin typeface="Calibri"/>
              </a:rPr>
              <a:t>•  </a:t>
            </a:r>
            <a:r>
              <a:rPr sz="1450" b="1" i="0">
                <a:solidFill>
                  <a:srgbClr val="1E2933"/>
                </a:solidFill>
                <a:latin typeface="Calibri"/>
              </a:rPr>
              <a:t>Under-powered statistics. </a:t>
            </a:r>
            <a:r>
              <a:rPr sz="1450" b="0" i="0">
                <a:solidFill>
                  <a:srgbClr val="1E2933"/>
                </a:solidFill>
                <a:latin typeface="Calibri"/>
              </a:rPr>
              <a:t>Climbing reduced to one endpoint %; lifespan reported as median only, omitting Kaplan–Meier, log-rank and Cox; periodograms often uncorrected for multiplicity.</a:t>
            </a:r>
          </a:p>
          <a:p>
            <a:pPr>
              <a:lnSpc>
                <a:spcPct val="105000"/>
              </a:lnSpc>
              <a:spcAft>
                <a:spcPts val="1200"/>
              </a:spcAft>
            </a:pPr>
            <a:r>
              <a:rPr sz="1450" b="1" i="0">
                <a:solidFill>
                  <a:srgbClr val="F0A500"/>
                </a:solidFill>
                <a:latin typeface="Calibri"/>
              </a:rPr>
              <a:t>•  </a:t>
            </a:r>
            <a:r>
              <a:rPr sz="1450" b="1" i="0">
                <a:solidFill>
                  <a:srgbClr val="1E2933"/>
                </a:solidFill>
                <a:latin typeface="Calibri"/>
              </a:rPr>
              <a:t>No unequal-N method. </a:t>
            </a:r>
            <a:r>
              <a:rPr sz="1450" b="0" i="0">
                <a:solidFill>
                  <a:srgbClr val="1E2933"/>
                </a:solidFill>
                <a:latin typeface="Calibri"/>
              </a:rPr>
              <a:t>When one strain has 3 vials and another 7, averaging group means is biased toward the smaller, noisier strain — yet this is exactly the screening situation.</a:t>
            </a:r>
          </a:p>
          <a:p>
            <a:pPr>
              <a:lnSpc>
                <a:spcPct val="105000"/>
              </a:lnSpc>
              <a:spcAft>
                <a:spcPts val="1200"/>
              </a:spcAft>
            </a:pPr>
            <a:r>
              <a:rPr sz="1450" b="1" i="0">
                <a:solidFill>
                  <a:srgbClr val="F0A500"/>
                </a:solidFill>
                <a:latin typeface="Calibri"/>
              </a:rPr>
              <a:t>•  </a:t>
            </a:r>
            <a:r>
              <a:rPr sz="1450" b="1" i="0">
                <a:solidFill>
                  <a:srgbClr val="1E2933"/>
                </a:solidFill>
                <a:latin typeface="Calibri"/>
              </a:rPr>
              <a:t>Verifiability gap. </a:t>
            </a:r>
            <a:r>
              <a:rPr sz="1450" b="0" i="0">
                <a:solidFill>
                  <a:srgbClr val="1E2933"/>
                </a:solidFill>
                <a:latin typeface="Calibri"/>
              </a:rPr>
              <a:t>Results are rarely benchmarked against published data or gold-standard software.</a:t>
            </a:r>
          </a:p>
        </p:txBody>
      </p:sp>
      <p:sp>
        <p:nvSpPr>
          <p:cNvPr id="6" name="Rounded Rectangle 5"/>
          <p:cNvSpPr/>
          <p:nvPr/>
        </p:nvSpPr>
        <p:spPr>
          <a:xfrm>
            <a:off x="6766560" y="1737360"/>
            <a:ext cx="4846320" cy="402336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F0A500"/>
                </a:solidFill>
                <a:latin typeface="Calibri"/>
              </a:rPr>
              <a:t>The unmet need</a:t>
            </a:r>
          </a:p>
          <a:p>
            <a:pPr>
              <a:lnSpc>
                <a:spcPct val="103000"/>
              </a:lnSpc>
              <a:spcAft>
                <a:spcPts val="200"/>
              </a:spcAft>
            </a:pPr>
            <a:r>
              <a:rPr sz="1150" b="0" i="0">
                <a:solidFill>
                  <a:srgbClr val="1E2933"/>
                </a:solidFill>
                <a:latin typeface="Calibri"/>
              </a:rPr>
              <a:t>One reproducible workflow that:</a:t>
            </a:r>
          </a:p>
          <a:p>
            <a:pPr>
              <a:lnSpc>
                <a:spcPct val="103000"/>
              </a:lnSpc>
              <a:spcAft>
                <a:spcPts val="200"/>
              </a:spcAft>
            </a:pPr>
            <a:r>
              <a:rPr sz="1150" b="0" i="0">
                <a:solidFill>
                  <a:srgbClr val="1E2933"/>
                </a:solidFill>
                <a:latin typeface="Calibri"/>
              </a:rPr>
              <a:t>• unifies all six assays,</a:t>
            </a:r>
          </a:p>
          <a:p>
            <a:pPr>
              <a:lnSpc>
                <a:spcPct val="103000"/>
              </a:lnSpc>
              <a:spcAft>
                <a:spcPts val="200"/>
              </a:spcAft>
            </a:pPr>
            <a:r>
              <a:rPr sz="1150" b="0" i="0">
                <a:solidFill>
                  <a:srgbClr val="1E2933"/>
                </a:solidFill>
                <a:latin typeface="Calibri"/>
              </a:rPr>
              <a:t>• applies correct, assumption-aware statistics,</a:t>
            </a:r>
          </a:p>
          <a:p>
            <a:pPr>
              <a:lnSpc>
                <a:spcPct val="103000"/>
              </a:lnSpc>
              <a:spcAft>
                <a:spcPts val="200"/>
              </a:spcAft>
            </a:pPr>
            <a:r>
              <a:rPr sz="1150" b="0" i="0">
                <a:solidFill>
                  <a:srgbClr val="1E2933"/>
                </a:solidFill>
                <a:latin typeface="Calibri"/>
              </a:rPr>
              <a:t>• handles unequal-N strain comparison rigorously,</a:t>
            </a:r>
          </a:p>
          <a:p>
            <a:pPr>
              <a:lnSpc>
                <a:spcPct val="103000"/>
              </a:lnSpc>
              <a:spcAft>
                <a:spcPts val="200"/>
              </a:spcAft>
            </a:pPr>
            <a:r>
              <a:rPr sz="1150" b="0" i="0">
                <a:solidFill>
                  <a:srgbClr val="1E2933"/>
                </a:solidFill>
                <a:latin typeface="Calibri"/>
              </a:rPr>
              <a:t>• and can be independently verified —</a:t>
            </a:r>
          </a:p>
          <a:p>
            <a:pPr>
              <a:lnSpc>
                <a:spcPct val="103000"/>
              </a:lnSpc>
              <a:spcAft>
                <a:spcPts val="200"/>
              </a:spcAft>
            </a:pPr>
            <a:r>
              <a:rPr sz="1150" b="0" i="0">
                <a:solidFill>
                  <a:srgbClr val="1E2933"/>
                </a:solidFill>
                <a:latin typeface="Calibri"/>
              </a:rPr>
              <a:t>  not merely trusted.</a:t>
            </a:r>
          </a:p>
          <a:p>
            <a:pPr>
              <a:lnSpc>
                <a:spcPct val="103000"/>
              </a:lnSpc>
              <a:spcAft>
                <a:spcPts val="200"/>
              </a:spcAft>
            </a:pPr>
            <a:r>
              <a:rPr sz="1150" b="0" i="0">
                <a:solidFill>
                  <a:srgbClr val="1E2933"/>
                </a:solidFill>
                <a:latin typeface="Calibri"/>
              </a:rPr>
              <a:t/>
            </a:r>
          </a:p>
          <a:p>
            <a:pPr>
              <a:lnSpc>
                <a:spcPct val="103000"/>
              </a:lnSpc>
              <a:spcAft>
                <a:spcPts val="200"/>
              </a:spcAft>
            </a:pPr>
            <a:r>
              <a:rPr sz="1150" b="0" i="0">
                <a:solidFill>
                  <a:srgbClr val="1E2933"/>
                </a:solidFill>
                <a:latin typeface="Calibri"/>
              </a:rPr>
              <a:t>DroPhenix was built to meet each of these.</a:t>
            </a:r>
          </a:p>
        </p:txBody>
      </p:sp>
      <p:sp>
        <p:nvSpPr>
          <p:cNvPr id="7" name="TextBox 6"/>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OVERVIEW</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What we developed: six assays + cross-strain ranking</a:t>
            </a:r>
          </a:p>
        </p:txBody>
      </p:sp>
      <p:sp>
        <p:nvSpPr>
          <p:cNvPr id="5" name="Rounded Rectangle 4"/>
          <p:cNvSpPr/>
          <p:nvPr/>
        </p:nvSpPr>
        <p:spPr>
          <a:xfrm>
            <a:off x="548640" y="1554480"/>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Climbing</a:t>
            </a:r>
          </a:p>
          <a:p>
            <a:pPr>
              <a:lnSpc>
                <a:spcPct val="103000"/>
              </a:lnSpc>
              <a:spcAft>
                <a:spcPts val="200"/>
              </a:spcAft>
            </a:pPr>
            <a:r>
              <a:rPr sz="1150" b="0" i="0">
                <a:solidFill>
                  <a:srgbClr val="1E2933"/>
                </a:solidFill>
                <a:latin typeface="Calibri"/>
              </a:rPr>
              <a:t>Negative geotaxis: PI, AUC, t50; video fly-counting</a:t>
            </a:r>
          </a:p>
        </p:txBody>
      </p:sp>
      <p:sp>
        <p:nvSpPr>
          <p:cNvPr id="6" name="Rounded Rectangle 5"/>
          <p:cNvSpPr/>
          <p:nvPr/>
        </p:nvSpPr>
        <p:spPr>
          <a:xfrm>
            <a:off x="4343400" y="1554480"/>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Lifespan</a:t>
            </a:r>
          </a:p>
          <a:p>
            <a:pPr>
              <a:lnSpc>
                <a:spcPct val="103000"/>
              </a:lnSpc>
              <a:spcAft>
                <a:spcPts val="200"/>
              </a:spcAft>
            </a:pPr>
            <a:r>
              <a:rPr sz="1150" b="0" i="0">
                <a:solidFill>
                  <a:srgbClr val="1E2933"/>
                </a:solidFill>
                <a:latin typeface="Calibri"/>
              </a:rPr>
              <a:t>Kaplan–Meier, log-rank, Cox proportional hazards</a:t>
            </a:r>
          </a:p>
        </p:txBody>
      </p:sp>
      <p:sp>
        <p:nvSpPr>
          <p:cNvPr id="7" name="Rounded Rectangle 6"/>
          <p:cNvSpPr/>
          <p:nvPr/>
        </p:nvSpPr>
        <p:spPr>
          <a:xfrm>
            <a:off x="8138160" y="1554480"/>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Y-maze</a:t>
            </a:r>
          </a:p>
          <a:p>
            <a:pPr>
              <a:lnSpc>
                <a:spcPct val="103000"/>
              </a:lnSpc>
              <a:spcAft>
                <a:spcPts val="200"/>
              </a:spcAft>
            </a:pPr>
            <a:r>
              <a:rPr sz="1150" b="0" i="0">
                <a:solidFill>
                  <a:srgbClr val="1E2933"/>
                </a:solidFill>
                <a:latin typeface="Calibri"/>
              </a:rPr>
              <a:t>Spontaneous alternation; turn-bias / handedness</a:t>
            </a:r>
          </a:p>
        </p:txBody>
      </p:sp>
      <p:sp>
        <p:nvSpPr>
          <p:cNvPr id="8" name="Rounded Rectangle 7"/>
          <p:cNvSpPr/>
          <p:nvPr/>
        </p:nvSpPr>
        <p:spPr>
          <a:xfrm>
            <a:off x="548640" y="3072384"/>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DAMS</a:t>
            </a:r>
          </a:p>
          <a:p>
            <a:pPr>
              <a:lnSpc>
                <a:spcPct val="103000"/>
              </a:lnSpc>
              <a:spcAft>
                <a:spcPts val="200"/>
              </a:spcAft>
            </a:pPr>
            <a:r>
              <a:rPr sz="1150" b="0" i="0">
                <a:solidFill>
                  <a:srgbClr val="1E2933"/>
                </a:solidFill>
                <a:latin typeface="Calibri"/>
              </a:rPr>
              <a:t>Sleep (5-min rule) + circadian period (periodogram)</a:t>
            </a:r>
          </a:p>
        </p:txBody>
      </p:sp>
      <p:sp>
        <p:nvSpPr>
          <p:cNvPr id="9" name="Rounded Rectangle 8"/>
          <p:cNvSpPr/>
          <p:nvPr/>
        </p:nvSpPr>
        <p:spPr>
          <a:xfrm>
            <a:off x="4343400" y="3072384"/>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Larval crawling</a:t>
            </a:r>
          </a:p>
          <a:p>
            <a:pPr>
              <a:lnSpc>
                <a:spcPct val="103000"/>
              </a:lnSpc>
              <a:spcAft>
                <a:spcPts val="200"/>
              </a:spcAft>
            </a:pPr>
            <a:r>
              <a:rPr sz="1150" b="0" i="0">
                <a:solidFill>
                  <a:srgbClr val="1E2933"/>
                </a:solidFill>
                <a:latin typeface="Calibri"/>
              </a:rPr>
              <a:t>Video tracking: speed, path, tortuosity</a:t>
            </a:r>
          </a:p>
        </p:txBody>
      </p:sp>
      <p:sp>
        <p:nvSpPr>
          <p:cNvPr id="10" name="Rounded Rectangle 9"/>
          <p:cNvSpPr/>
          <p:nvPr/>
        </p:nvSpPr>
        <p:spPr>
          <a:xfrm>
            <a:off x="8138160" y="3072384"/>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Grooming</a:t>
            </a:r>
          </a:p>
          <a:p>
            <a:pPr>
              <a:lnSpc>
                <a:spcPct val="103000"/>
              </a:lnSpc>
              <a:spcAft>
                <a:spcPts val="200"/>
              </a:spcAft>
            </a:pPr>
            <a:r>
              <a:rPr sz="1150" b="0" i="0">
                <a:solidFill>
                  <a:srgbClr val="1E2933"/>
                </a:solidFill>
                <a:latin typeface="Calibri"/>
              </a:rPr>
              <a:t>% time grooming, bout structure</a:t>
            </a:r>
          </a:p>
        </p:txBody>
      </p:sp>
      <p:sp>
        <p:nvSpPr>
          <p:cNvPr id="11" name="Rounded Rectangle 10"/>
          <p:cNvSpPr/>
          <p:nvPr/>
        </p:nvSpPr>
        <p:spPr>
          <a:xfrm>
            <a:off x="548640" y="4590288"/>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Motor Decline Rate</a:t>
            </a:r>
          </a:p>
          <a:p>
            <a:pPr>
              <a:lnSpc>
                <a:spcPct val="103000"/>
              </a:lnSpc>
              <a:spcAft>
                <a:spcPts val="200"/>
              </a:spcAft>
            </a:pPr>
            <a:r>
              <a:rPr sz="1150" b="0" i="0">
                <a:solidFill>
                  <a:srgbClr val="1E2933"/>
                </a:solidFill>
                <a:latin typeface="Calibri"/>
              </a:rPr>
              <a:t>Exponential decline of PI over age</a:t>
            </a:r>
          </a:p>
        </p:txBody>
      </p:sp>
      <p:sp>
        <p:nvSpPr>
          <p:cNvPr id="12" name="Rounded Rectangle 11"/>
          <p:cNvSpPr/>
          <p:nvPr/>
        </p:nvSpPr>
        <p:spPr>
          <a:xfrm>
            <a:off x="4343400" y="4590288"/>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Trajectory clustering</a:t>
            </a:r>
          </a:p>
          <a:p>
            <a:pPr>
              <a:lnSpc>
                <a:spcPct val="103000"/>
              </a:lnSpc>
              <a:spcAft>
                <a:spcPts val="200"/>
              </a:spcAft>
            </a:pPr>
            <a:r>
              <a:rPr sz="1150" b="0" i="0">
                <a:solidFill>
                  <a:srgbClr val="1E2933"/>
                </a:solidFill>
                <a:latin typeface="Calibri"/>
              </a:rPr>
              <a:t>DTW + Ward unsupervised phenotype grouping</a:t>
            </a:r>
          </a:p>
        </p:txBody>
      </p:sp>
      <p:sp>
        <p:nvSpPr>
          <p:cNvPr id="13" name="Rounded Rectangle 12"/>
          <p:cNvSpPr/>
          <p:nvPr/>
        </p:nvSpPr>
        <p:spPr>
          <a:xfrm>
            <a:off x="8138160" y="4590288"/>
            <a:ext cx="365760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Drug Ranking</a:t>
            </a:r>
          </a:p>
          <a:p>
            <a:pPr>
              <a:lnSpc>
                <a:spcPct val="103000"/>
              </a:lnSpc>
              <a:spcAft>
                <a:spcPts val="200"/>
              </a:spcAft>
            </a:pPr>
            <a:r>
              <a:rPr sz="1150" b="0" i="0">
                <a:solidFill>
                  <a:srgbClr val="1E2933"/>
                </a:solidFill>
                <a:latin typeface="Calibri"/>
              </a:rPr>
              <a:t>Cross-strain, cross-assay meta-analytic score</a:t>
            </a:r>
          </a:p>
        </p:txBody>
      </p:sp>
      <p:sp>
        <p:nvSpPr>
          <p:cNvPr id="14" name="TextBox 13"/>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CORE INNOVATION</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Actuarial cross-strain compound comparison under unequal N</a:t>
            </a:r>
          </a:p>
        </p:txBody>
      </p:sp>
      <p:sp>
        <p:nvSpPr>
          <p:cNvPr id="5" name="TextBox 4"/>
          <p:cNvSpPr txBox="1"/>
          <p:nvPr/>
        </p:nvSpPr>
        <p:spPr>
          <a:xfrm>
            <a:off x="548640" y="1554480"/>
            <a:ext cx="5760720" cy="4206240"/>
          </a:xfrm>
          <a:prstGeom prst="rect">
            <a:avLst/>
          </a:prstGeom>
          <a:noFill/>
        </p:spPr>
        <p:txBody>
          <a:bodyPr wrap="square" anchor="t" lIns="25400" rIns="25400" tIns="25400" bIns="25400">
            <a:spAutoFit/>
          </a:bodyPr>
          <a:lstStyle/>
          <a:p>
            <a:pPr>
              <a:lnSpc>
                <a:spcPct val="105000"/>
              </a:lnSpc>
              <a:spcAft>
                <a:spcPts val="1100"/>
              </a:spcAft>
            </a:pPr>
            <a:r>
              <a:rPr sz="1450" b="1" i="0">
                <a:solidFill>
                  <a:srgbClr val="F0A500"/>
                </a:solidFill>
                <a:latin typeface="Calibri"/>
              </a:rPr>
              <a:t>•  </a:t>
            </a:r>
            <a:r>
              <a:rPr sz="1450" b="1" i="0">
                <a:solidFill>
                  <a:srgbClr val="1E2933"/>
                </a:solidFill>
                <a:latin typeface="Calibri"/>
              </a:rPr>
              <a:t>Per strain. </a:t>
            </a:r>
            <a:r>
              <a:rPr sz="1450" b="0" i="0">
                <a:solidFill>
                  <a:srgbClr val="1E2933"/>
                </a:solidFill>
                <a:latin typeface="Calibri"/>
              </a:rPr>
              <a:t>Drug-vs-vehicle effect = Hedges' g, whose variance depends on the two group sizes — so unequal N is handled at source.</a:t>
            </a:r>
          </a:p>
          <a:p>
            <a:pPr>
              <a:lnSpc>
                <a:spcPct val="105000"/>
              </a:lnSpc>
              <a:spcAft>
                <a:spcPts val="1100"/>
              </a:spcAft>
            </a:pPr>
            <a:r>
              <a:rPr sz="1450" b="1" i="0">
                <a:solidFill>
                  <a:srgbClr val="F0A500"/>
                </a:solidFill>
                <a:latin typeface="Calibri"/>
              </a:rPr>
              <a:t>•  </a:t>
            </a:r>
            <a:r>
              <a:rPr sz="1450" b="1" i="0">
                <a:solidFill>
                  <a:srgbClr val="1E2933"/>
                </a:solidFill>
                <a:latin typeface="Calibri"/>
              </a:rPr>
              <a:t>Across strains. </a:t>
            </a:r>
            <a:r>
              <a:rPr sz="1450" b="0" i="0">
                <a:solidFill>
                  <a:srgbClr val="1E2933"/>
                </a:solidFill>
                <a:latin typeface="Calibri"/>
              </a:rPr>
              <a:t>Combine by inverse-variance / DerSimonian–Laird random-effects pooling: larger strains get more weight; small ones are down-weighted, not discarded.</a:t>
            </a:r>
          </a:p>
          <a:p>
            <a:pPr>
              <a:lnSpc>
                <a:spcPct val="105000"/>
              </a:lnSpc>
              <a:spcAft>
                <a:spcPts val="1100"/>
              </a:spcAft>
            </a:pPr>
            <a:r>
              <a:rPr sz="1450" b="1" i="0">
                <a:solidFill>
                  <a:srgbClr val="F0A500"/>
                </a:solidFill>
                <a:latin typeface="Calibri"/>
              </a:rPr>
              <a:t>•  </a:t>
            </a:r>
            <a:r>
              <a:rPr sz="1450" b="1" i="0">
                <a:solidFill>
                  <a:srgbClr val="1E2933"/>
                </a:solidFill>
                <a:latin typeface="Calibri"/>
              </a:rPr>
              <a:t>Across assays. </a:t>
            </a:r>
            <a:r>
              <a:rPr sz="1450" b="0" i="0">
                <a:solidFill>
                  <a:srgbClr val="1E2933"/>
                </a:solidFill>
                <a:latin typeface="Calibri"/>
              </a:rPr>
              <a:t>Pool into one Therapeutic Score, oriented so positive = benefit, with heterogeneity (I²).</a:t>
            </a:r>
          </a:p>
          <a:p>
            <a:pPr>
              <a:lnSpc>
                <a:spcPct val="105000"/>
              </a:lnSpc>
              <a:spcAft>
                <a:spcPts val="1100"/>
              </a:spcAft>
            </a:pPr>
            <a:r>
              <a:rPr sz="1450" b="1" i="0">
                <a:solidFill>
                  <a:srgbClr val="F0A500"/>
                </a:solidFill>
                <a:latin typeface="Calibri"/>
              </a:rPr>
              <a:t>•  </a:t>
            </a:r>
            <a:r>
              <a:rPr sz="1450" b="1" i="0">
                <a:solidFill>
                  <a:srgbClr val="1E2933"/>
                </a:solidFill>
                <a:latin typeface="Calibri"/>
              </a:rPr>
              <a:t>Why it matters. </a:t>
            </a:r>
            <a:r>
              <a:rPr sz="1450" b="0" i="0">
                <a:solidFill>
                  <a:srgbClr val="1E2933"/>
                </a:solidFill>
                <a:latin typeface="Calibri"/>
              </a:rPr>
              <a:t>This is the minimum-variance, correctly-calibrated way to rank a compound across unbalanced disease models — the first question a reviewer asks of a screen.</a:t>
            </a:r>
          </a:p>
        </p:txBody>
      </p:sp>
      <p:pic>
        <p:nvPicPr>
          <p:cNvPr id="6" name="Picture 5" descr="Figure2_innovation.png"/>
          <p:cNvPicPr>
            <a:picLocks noChangeAspect="1"/>
          </p:cNvPicPr>
          <p:nvPr/>
        </p:nvPicPr>
        <p:blipFill>
          <a:blip r:embed="rId2"/>
          <a:stretch>
            <a:fillRect/>
          </a:stretch>
        </p:blipFill>
        <p:spPr>
          <a:xfrm>
            <a:off x="6446520" y="1600200"/>
            <a:ext cx="5257800" cy="2085552"/>
          </a:xfrm>
          <a:prstGeom prst="rect">
            <a:avLst/>
          </a:prstGeom>
        </p:spPr>
      </p:pic>
      <p:sp>
        <p:nvSpPr>
          <p:cNvPr id="7" name="TextBox 6"/>
          <p:cNvSpPr txBox="1"/>
          <p:nvPr/>
        </p:nvSpPr>
        <p:spPr>
          <a:xfrm>
            <a:off x="6446520" y="5806440"/>
            <a:ext cx="5257800" cy="457200"/>
          </a:xfrm>
          <a:prstGeom prst="rect">
            <a:avLst/>
          </a:prstGeom>
          <a:noFill/>
        </p:spPr>
        <p:txBody>
          <a:bodyPr wrap="square" anchor="t" lIns="25400" rIns="25400" tIns="25400" bIns="25400">
            <a:spAutoFit/>
          </a:bodyPr>
          <a:lstStyle/>
          <a:p>
            <a:r>
              <a:rPr sz="1100" b="0" i="1">
                <a:solidFill>
                  <a:srgbClr val="5A6B7B"/>
                </a:solidFill>
                <a:latin typeface="Calibri"/>
              </a:rPr>
              <a:t>Simulation (3000 runs): inverse-variance pooling gives 19.9% lower RMSE and 95.8% CI coverage vs naive averaging.</a:t>
            </a:r>
          </a:p>
        </p:txBody>
      </p:sp>
      <p:sp>
        <p:nvSpPr>
          <p:cNvPr id="8" name="TextBox 7"/>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METHODS</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The calculation behind each module — and why</a:t>
            </a:r>
          </a:p>
        </p:txBody>
      </p:sp>
      <p:sp>
        <p:nvSpPr>
          <p:cNvPr id="5" name="TextBox 4"/>
          <p:cNvSpPr txBox="1"/>
          <p:nvPr/>
        </p:nvSpPr>
        <p:spPr>
          <a:xfrm>
            <a:off x="548640" y="1508760"/>
            <a:ext cx="11064240" cy="274320"/>
          </a:xfrm>
          <a:prstGeom prst="rect">
            <a:avLst/>
          </a:prstGeom>
          <a:noFill/>
        </p:spPr>
        <p:txBody>
          <a:bodyPr wrap="square" anchor="t" lIns="25400" rIns="25400" tIns="25400" bIns="25400">
            <a:spAutoFit/>
          </a:bodyPr>
          <a:lstStyle/>
          <a:p>
            <a:r>
              <a:rPr sz="1300" b="1" i="0">
                <a:solidFill>
                  <a:srgbClr val="F0A500"/>
                </a:solidFill>
                <a:latin typeface="Calibri"/>
              </a:rPr>
              <a:t>Module</a:t>
            </a:r>
            <a:r>
              <a:rPr sz="1300" b="0" i="0">
                <a:solidFill>
                  <a:srgbClr val="F0A500"/>
                </a:solidFill>
                <a:latin typeface="Calibri"/>
              </a:rPr>
              <a:t>	</a:t>
            </a:r>
            <a:r>
              <a:rPr sz="1300" b="1" i="0">
                <a:solidFill>
                  <a:srgbClr val="F0A500"/>
                </a:solidFill>
                <a:latin typeface="Calibri"/>
              </a:rPr>
              <a:t>Calculation</a:t>
            </a:r>
            <a:r>
              <a:rPr sz="1300" b="0" i="0">
                <a:solidFill>
                  <a:srgbClr val="F0A500"/>
                </a:solidFill>
                <a:latin typeface="Calibri"/>
              </a:rPr>
              <a:t>	</a:t>
            </a:r>
            <a:r>
              <a:rPr sz="1300" b="1" i="0">
                <a:solidFill>
                  <a:srgbClr val="F0A500"/>
                </a:solidFill>
                <a:latin typeface="Calibri"/>
              </a:rPr>
              <a:t>Why we use it</a:t>
            </a:r>
            <a:r>
              <a:rPr sz="1300" b="0" i="0">
                <a:solidFill>
                  <a:srgbClr val="F0A500"/>
                </a:solidFill>
                <a:latin typeface="Calibri"/>
              </a:rPr>
              <a:t>	</a:t>
            </a:r>
          </a:p>
        </p:txBody>
      </p:sp>
      <p:sp>
        <p:nvSpPr>
          <p:cNvPr id="6" name="TextBox 5"/>
          <p:cNvSpPr txBox="1"/>
          <p:nvPr/>
        </p:nvSpPr>
        <p:spPr>
          <a:xfrm>
            <a:off x="548640" y="1874519"/>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Climbing</a:t>
            </a:r>
          </a:p>
        </p:txBody>
      </p:sp>
      <p:sp>
        <p:nvSpPr>
          <p:cNvPr id="7" name="TextBox 6"/>
          <p:cNvSpPr txBox="1"/>
          <p:nvPr/>
        </p:nvSpPr>
        <p:spPr>
          <a:xfrm>
            <a:off x="2697480" y="1874519"/>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PI = 2·(climbed/total)·100 − 100</a:t>
            </a:r>
          </a:p>
        </p:txBody>
      </p:sp>
      <p:sp>
        <p:nvSpPr>
          <p:cNvPr id="8" name="TextBox 7"/>
          <p:cNvSpPr txBox="1"/>
          <p:nvPr/>
        </p:nvSpPr>
        <p:spPr>
          <a:xfrm>
            <a:off x="8092440" y="1874519"/>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Standard negative-geotaxis readout</a:t>
            </a:r>
          </a:p>
        </p:txBody>
      </p:sp>
      <p:sp>
        <p:nvSpPr>
          <p:cNvPr id="9" name="Rectangle 8"/>
          <p:cNvSpPr/>
          <p:nvPr/>
        </p:nvSpPr>
        <p:spPr>
          <a:xfrm>
            <a:off x="548640" y="2423159"/>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3"/>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Lifespan</a:t>
            </a:r>
          </a:p>
        </p:txBody>
      </p:sp>
      <p:sp>
        <p:nvSpPr>
          <p:cNvPr id="11" name="TextBox 10"/>
          <p:cNvSpPr txBox="1"/>
          <p:nvPr/>
        </p:nvSpPr>
        <p:spPr>
          <a:xfrm>
            <a:off x="2697480" y="2478023"/>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KM Ŝ(t)=Π(1−d/n); log-rank χ²; Cox HR=e^β</a:t>
            </a:r>
          </a:p>
        </p:txBody>
      </p:sp>
      <p:sp>
        <p:nvSpPr>
          <p:cNvPr id="12" name="TextBox 11"/>
          <p:cNvSpPr txBox="1"/>
          <p:nvPr/>
        </p:nvSpPr>
        <p:spPr>
          <a:xfrm>
            <a:off x="8092440" y="2478023"/>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Actuarial standard for censored data</a:t>
            </a:r>
          </a:p>
        </p:txBody>
      </p:sp>
      <p:sp>
        <p:nvSpPr>
          <p:cNvPr id="13" name="Rectangle 12"/>
          <p:cNvSpPr/>
          <p:nvPr/>
        </p:nvSpPr>
        <p:spPr>
          <a:xfrm>
            <a:off x="548640" y="3026663"/>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81527"/>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Circadian</a:t>
            </a:r>
          </a:p>
        </p:txBody>
      </p:sp>
      <p:sp>
        <p:nvSpPr>
          <p:cNvPr id="15" name="TextBox 14"/>
          <p:cNvSpPr txBox="1"/>
          <p:nvPr/>
        </p:nvSpPr>
        <p:spPr>
          <a:xfrm>
            <a:off x="2697480" y="3081527"/>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Sokolove–Bushell Q_P periodogram (Bonferroni)</a:t>
            </a:r>
          </a:p>
        </p:txBody>
      </p:sp>
      <p:sp>
        <p:nvSpPr>
          <p:cNvPr id="16" name="TextBox 15"/>
          <p:cNvSpPr txBox="1"/>
          <p:nvPr/>
        </p:nvSpPr>
        <p:spPr>
          <a:xfrm>
            <a:off x="8092440" y="3081527"/>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Field standard; controls false positives</a:t>
            </a:r>
          </a:p>
        </p:txBody>
      </p:sp>
      <p:sp>
        <p:nvSpPr>
          <p:cNvPr id="17" name="Rectangle 16"/>
          <p:cNvSpPr/>
          <p:nvPr/>
        </p:nvSpPr>
        <p:spPr>
          <a:xfrm>
            <a:off x="548640" y="3630167"/>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85031"/>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Sleep</a:t>
            </a:r>
          </a:p>
        </p:txBody>
      </p:sp>
      <p:sp>
        <p:nvSpPr>
          <p:cNvPr id="19" name="TextBox 18"/>
          <p:cNvSpPr txBox="1"/>
          <p:nvPr/>
        </p:nvSpPr>
        <p:spPr>
          <a:xfrm>
            <a:off x="2697480" y="3685031"/>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bout = ≥5 min zero activity</a:t>
            </a:r>
          </a:p>
        </p:txBody>
      </p:sp>
      <p:sp>
        <p:nvSpPr>
          <p:cNvPr id="20" name="TextBox 19"/>
          <p:cNvSpPr txBox="1"/>
          <p:nvPr/>
        </p:nvSpPr>
        <p:spPr>
          <a:xfrm>
            <a:off x="8092440" y="3685031"/>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Operational Drosophila sleep definition</a:t>
            </a:r>
          </a:p>
        </p:txBody>
      </p:sp>
      <p:sp>
        <p:nvSpPr>
          <p:cNvPr id="21" name="Rectangle 20"/>
          <p:cNvSpPr/>
          <p:nvPr/>
        </p:nvSpPr>
        <p:spPr>
          <a:xfrm>
            <a:off x="548640" y="4233671"/>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88535"/>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Y-maze</a:t>
            </a:r>
          </a:p>
        </p:txBody>
      </p:sp>
      <p:sp>
        <p:nvSpPr>
          <p:cNvPr id="23" name="TextBox 22"/>
          <p:cNvSpPr txBox="1"/>
          <p:nvPr/>
        </p:nvSpPr>
        <p:spPr>
          <a:xfrm>
            <a:off x="2697480" y="4288535"/>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%alt=(triads/(entries−2)); bias=R/(R+L)</a:t>
            </a:r>
          </a:p>
        </p:txBody>
      </p:sp>
      <p:sp>
        <p:nvSpPr>
          <p:cNvPr id="24" name="TextBox 23"/>
          <p:cNvSpPr txBox="1"/>
          <p:nvPr/>
        </p:nvSpPr>
        <p:spPr>
          <a:xfrm>
            <a:off x="8092440" y="4288535"/>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Working memory + behavioural individuality</a:t>
            </a:r>
          </a:p>
        </p:txBody>
      </p:sp>
      <p:sp>
        <p:nvSpPr>
          <p:cNvPr id="25" name="Rectangle 24"/>
          <p:cNvSpPr/>
          <p:nvPr/>
        </p:nvSpPr>
        <p:spPr>
          <a:xfrm>
            <a:off x="548640" y="4837175"/>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892039"/>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MDR</a:t>
            </a:r>
          </a:p>
        </p:txBody>
      </p:sp>
      <p:sp>
        <p:nvSpPr>
          <p:cNvPr id="27" name="TextBox 26"/>
          <p:cNvSpPr txBox="1"/>
          <p:nvPr/>
        </p:nvSpPr>
        <p:spPr>
          <a:xfrm>
            <a:off x="2697480" y="4892039"/>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PI(age)=PI₀·e^(−k·age)</a:t>
            </a:r>
          </a:p>
        </p:txBody>
      </p:sp>
      <p:sp>
        <p:nvSpPr>
          <p:cNvPr id="28" name="TextBox 27"/>
          <p:cNvSpPr txBox="1"/>
          <p:nvPr/>
        </p:nvSpPr>
        <p:spPr>
          <a:xfrm>
            <a:off x="8092440" y="4892039"/>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Decline is age-dependent, not per-second</a:t>
            </a:r>
          </a:p>
        </p:txBody>
      </p:sp>
      <p:sp>
        <p:nvSpPr>
          <p:cNvPr id="29" name="Rectangle 28"/>
          <p:cNvSpPr/>
          <p:nvPr/>
        </p:nvSpPr>
        <p:spPr>
          <a:xfrm>
            <a:off x="548640" y="5440679"/>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495543"/>
            <a:ext cx="2103120" cy="566928"/>
          </a:xfrm>
          <a:prstGeom prst="rect">
            <a:avLst/>
          </a:prstGeom>
          <a:noFill/>
        </p:spPr>
        <p:txBody>
          <a:bodyPr wrap="square" anchor="ctr" lIns="25400" rIns="25400" tIns="25400" bIns="25400">
            <a:spAutoFit/>
          </a:bodyPr>
          <a:lstStyle/>
          <a:p>
            <a:r>
              <a:rPr sz="1250" b="1" i="0">
                <a:solidFill>
                  <a:srgbClr val="0D2137"/>
                </a:solidFill>
                <a:latin typeface="Calibri"/>
              </a:rPr>
              <a:t>Ranking</a:t>
            </a:r>
          </a:p>
        </p:txBody>
      </p:sp>
      <p:sp>
        <p:nvSpPr>
          <p:cNvPr id="31" name="TextBox 30"/>
          <p:cNvSpPr txBox="1"/>
          <p:nvPr/>
        </p:nvSpPr>
        <p:spPr>
          <a:xfrm>
            <a:off x="2697480" y="5495543"/>
            <a:ext cx="5212080" cy="566928"/>
          </a:xfrm>
          <a:prstGeom prst="rect">
            <a:avLst/>
          </a:prstGeom>
          <a:noFill/>
        </p:spPr>
        <p:txBody>
          <a:bodyPr wrap="square" anchor="ctr" lIns="25400" rIns="25400" tIns="25400" bIns="25400">
            <a:spAutoFit/>
          </a:bodyPr>
          <a:lstStyle/>
          <a:p>
            <a:r>
              <a:rPr sz="1200" b="0" i="0">
                <a:solidFill>
                  <a:srgbClr val="1E2933"/>
                </a:solidFill>
                <a:latin typeface="Cambria"/>
              </a:rPr>
              <a:t>Hedges' g → inverse-variance / DL pooling</a:t>
            </a:r>
          </a:p>
        </p:txBody>
      </p:sp>
      <p:sp>
        <p:nvSpPr>
          <p:cNvPr id="32" name="TextBox 31"/>
          <p:cNvSpPr txBox="1"/>
          <p:nvPr/>
        </p:nvSpPr>
        <p:spPr>
          <a:xfrm>
            <a:off x="8092440" y="5495543"/>
            <a:ext cx="3566160" cy="566928"/>
          </a:xfrm>
          <a:prstGeom prst="rect">
            <a:avLst/>
          </a:prstGeom>
          <a:noFill/>
        </p:spPr>
        <p:txBody>
          <a:bodyPr wrap="square" anchor="ctr" lIns="25400" rIns="25400" tIns="25400" bIns="25400">
            <a:spAutoFit/>
          </a:bodyPr>
          <a:lstStyle/>
          <a:p>
            <a:r>
              <a:rPr sz="1150" b="0" i="0">
                <a:solidFill>
                  <a:srgbClr val="5A6B7B"/>
                </a:solidFill>
                <a:latin typeface="Calibri"/>
              </a:rPr>
              <a:t>Unequal-N, minimum-variance combination</a:t>
            </a:r>
          </a:p>
        </p:txBody>
      </p:sp>
      <p:sp>
        <p:nvSpPr>
          <p:cNvPr id="33" name="Rectangle 32"/>
          <p:cNvSpPr/>
          <p:nvPr/>
        </p:nvSpPr>
        <p:spPr>
          <a:xfrm>
            <a:off x="548640" y="6044183"/>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RIGOUR</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The statistics engine: assumption-aware by design</a:t>
            </a:r>
          </a:p>
        </p:txBody>
      </p:sp>
      <p:sp>
        <p:nvSpPr>
          <p:cNvPr id="5" name="TextBox 4"/>
          <p:cNvSpPr txBox="1"/>
          <p:nvPr/>
        </p:nvSpPr>
        <p:spPr>
          <a:xfrm>
            <a:off x="548640" y="1600200"/>
            <a:ext cx="5669280" cy="4572000"/>
          </a:xfrm>
          <a:prstGeom prst="rect">
            <a:avLst/>
          </a:prstGeom>
          <a:noFill/>
        </p:spPr>
        <p:txBody>
          <a:bodyPr wrap="square" anchor="t" lIns="25400" rIns="25400" tIns="25400" bIns="25400">
            <a:spAutoFit/>
          </a:bodyPr>
          <a:lstStyle/>
          <a:p>
            <a:pPr>
              <a:lnSpc>
                <a:spcPct val="105000"/>
              </a:lnSpc>
              <a:spcAft>
                <a:spcPts val="1300"/>
              </a:spcAft>
            </a:pPr>
            <a:r>
              <a:rPr sz="1450" b="1" i="0">
                <a:solidFill>
                  <a:srgbClr val="F0A500"/>
                </a:solidFill>
                <a:latin typeface="Calibri"/>
              </a:rPr>
              <a:t>•  </a:t>
            </a:r>
            <a:r>
              <a:rPr sz="1450" b="1" i="0">
                <a:solidFill>
                  <a:srgbClr val="1E2933"/>
                </a:solidFill>
                <a:latin typeface="Calibri"/>
              </a:rPr>
              <a:t>Test selection is gated, not defaulted. </a:t>
            </a:r>
            <a:r>
              <a:rPr sz="1450" b="0" i="0">
                <a:solidFill>
                  <a:srgbClr val="1E2933"/>
                </a:solidFill>
                <a:latin typeface="Calibri"/>
              </a:rPr>
              <a:t>Shapiro–Wilk (normality) + Levene (variance) decide between Welch t / ANOVA and Mann–Whitney / Kruskal–Wallis.</a:t>
            </a:r>
          </a:p>
          <a:p>
            <a:pPr>
              <a:lnSpc>
                <a:spcPct val="105000"/>
              </a:lnSpc>
              <a:spcAft>
                <a:spcPts val="1300"/>
              </a:spcAft>
            </a:pPr>
            <a:r>
              <a:rPr sz="1450" b="1" i="0">
                <a:solidFill>
                  <a:srgbClr val="F0A500"/>
                </a:solidFill>
                <a:latin typeface="Calibri"/>
              </a:rPr>
              <a:t>•  </a:t>
            </a:r>
            <a:r>
              <a:rPr sz="1450" b="1" i="0">
                <a:solidFill>
                  <a:srgbClr val="1E2933"/>
                </a:solidFill>
                <a:latin typeface="Calibri"/>
              </a:rPr>
              <a:t>Effect sizes are mandatory. </a:t>
            </a:r>
            <a:r>
              <a:rPr sz="1450" b="0" i="0">
                <a:solidFill>
                  <a:srgbClr val="1E2933"/>
                </a:solidFill>
                <a:latin typeface="Calibri"/>
              </a:rPr>
              <a:t>Cohen's d and small-sample-corrected Hedges' g; rank-biserial for non-parametric — significance is never reported alone.</a:t>
            </a:r>
          </a:p>
          <a:p>
            <a:pPr>
              <a:lnSpc>
                <a:spcPct val="105000"/>
              </a:lnSpc>
              <a:spcAft>
                <a:spcPts val="1300"/>
              </a:spcAft>
            </a:pPr>
            <a:r>
              <a:rPr sz="1450" b="1" i="0">
                <a:solidFill>
                  <a:srgbClr val="F0A500"/>
                </a:solidFill>
                <a:latin typeface="Calibri"/>
              </a:rPr>
              <a:t>•  </a:t>
            </a:r>
            <a:r>
              <a:rPr sz="1450" b="1" i="0">
                <a:solidFill>
                  <a:srgbClr val="1E2933"/>
                </a:solidFill>
                <a:latin typeface="Calibri"/>
              </a:rPr>
              <a:t>Multiplicity is controlled. </a:t>
            </a:r>
            <a:r>
              <a:rPr sz="1450" b="0" i="0">
                <a:solidFill>
                  <a:srgbClr val="1E2933"/>
                </a:solidFill>
                <a:latin typeface="Calibri"/>
              </a:rPr>
              <a:t>Benjamini–Hochberg false-discovery-rate correction on all pairwise post-hoc tests.</a:t>
            </a:r>
          </a:p>
          <a:p>
            <a:pPr>
              <a:lnSpc>
                <a:spcPct val="105000"/>
              </a:lnSpc>
              <a:spcAft>
                <a:spcPts val="1300"/>
              </a:spcAft>
            </a:pPr>
            <a:r>
              <a:rPr sz="1450" b="1" i="0">
                <a:solidFill>
                  <a:srgbClr val="F0A500"/>
                </a:solidFill>
                <a:latin typeface="Calibri"/>
              </a:rPr>
              <a:t>•  </a:t>
            </a:r>
            <a:r>
              <a:rPr sz="1450" b="1" i="0">
                <a:solidFill>
                  <a:srgbClr val="1E2933"/>
                </a:solidFill>
                <a:latin typeface="Calibri"/>
              </a:rPr>
              <a:t>Uncertainty is quantified. </a:t>
            </a:r>
            <a:r>
              <a:rPr sz="1450" b="0" i="0">
                <a:solidFill>
                  <a:srgbClr val="1E2933"/>
                </a:solidFill>
                <a:latin typeface="Calibri"/>
              </a:rPr>
              <a:t>Percentile bootstrap 95% confidence intervals (fixed seed → reproducible).</a:t>
            </a:r>
          </a:p>
        </p:txBody>
      </p:sp>
      <p:sp>
        <p:nvSpPr>
          <p:cNvPr id="6" name="Rounded Rectangle 5"/>
          <p:cNvSpPr/>
          <p:nvPr/>
        </p:nvSpPr>
        <p:spPr>
          <a:xfrm>
            <a:off x="6537960" y="1737360"/>
            <a:ext cx="5074920" cy="402336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F0A500"/>
                </a:solidFill>
                <a:latin typeface="Calibri"/>
              </a:rPr>
              <a:t>Why this matters</a:t>
            </a:r>
          </a:p>
          <a:p>
            <a:pPr>
              <a:lnSpc>
                <a:spcPct val="103000"/>
              </a:lnSpc>
              <a:spcAft>
                <a:spcPts val="200"/>
              </a:spcAft>
            </a:pPr>
            <a:r>
              <a:rPr sz="1150" b="0" i="0">
                <a:solidFill>
                  <a:srgbClr val="1E2933"/>
                </a:solidFill>
                <a:latin typeface="Calibri"/>
              </a:rPr>
              <a:t>Behavioural screens are small and noisy.</a:t>
            </a:r>
          </a:p>
          <a:p>
            <a:pPr>
              <a:lnSpc>
                <a:spcPct val="103000"/>
              </a:lnSpc>
              <a:spcAft>
                <a:spcPts val="200"/>
              </a:spcAft>
            </a:pPr>
            <a:r>
              <a:rPr sz="1150" b="0" i="0">
                <a:solidFill>
                  <a:srgbClr val="1E2933"/>
                </a:solidFill>
                <a:latin typeface="Calibri"/>
              </a:rPr>
              <a:t>Defaulting to ANOVA on non-normal, unequal-variance, unequal-N data inflates false positives.</a:t>
            </a:r>
          </a:p>
          <a:p>
            <a:pPr>
              <a:lnSpc>
                <a:spcPct val="103000"/>
              </a:lnSpc>
              <a:spcAft>
                <a:spcPts val="200"/>
              </a:spcAft>
            </a:pPr>
            <a:r>
              <a:rPr sz="1150" b="0" i="0">
                <a:solidFill>
                  <a:srgbClr val="1E2933"/>
                </a:solidFill>
                <a:latin typeface="Calibri"/>
              </a:rPr>
              <a:t/>
            </a:r>
          </a:p>
          <a:p>
            <a:pPr>
              <a:lnSpc>
                <a:spcPct val="103000"/>
              </a:lnSpc>
              <a:spcAft>
                <a:spcPts val="200"/>
              </a:spcAft>
            </a:pPr>
            <a:r>
              <a:rPr sz="1150" b="0" i="0">
                <a:solidFill>
                  <a:srgbClr val="1E2933"/>
                </a:solidFill>
                <a:latin typeface="Calibri"/>
              </a:rPr>
              <a:t>Gating the test on its assumptions, forcing effect sizes, and controlling the FDR is the</a:t>
            </a:r>
          </a:p>
          <a:p>
            <a:pPr>
              <a:lnSpc>
                <a:spcPct val="103000"/>
              </a:lnSpc>
              <a:spcAft>
                <a:spcPts val="200"/>
              </a:spcAft>
            </a:pPr>
            <a:r>
              <a:rPr sz="1150" b="0" i="0">
                <a:solidFill>
                  <a:srgbClr val="1E2933"/>
                </a:solidFill>
                <a:latin typeface="Calibri"/>
              </a:rPr>
              <a:t>difference between a result that survives peer review and one that does not.</a:t>
            </a:r>
          </a:p>
        </p:txBody>
      </p:sp>
      <p:sp>
        <p:nvSpPr>
          <p:cNvPr id="7" name="TextBox 6"/>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ENGINEERING</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Tools and techniques — and why we chose them</a:t>
            </a:r>
          </a:p>
        </p:txBody>
      </p:sp>
      <p:sp>
        <p:nvSpPr>
          <p:cNvPr id="5" name="Rounded Rectangle 4"/>
          <p:cNvSpPr/>
          <p:nvPr/>
        </p:nvSpPr>
        <p:spPr>
          <a:xfrm>
            <a:off x="548640" y="1554480"/>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Streamlit</a:t>
            </a:r>
          </a:p>
          <a:p>
            <a:pPr>
              <a:lnSpc>
                <a:spcPct val="103000"/>
              </a:lnSpc>
              <a:spcAft>
                <a:spcPts val="200"/>
              </a:spcAft>
            </a:pPr>
            <a:r>
              <a:rPr sz="1150" b="0" i="0">
                <a:solidFill>
                  <a:srgbClr val="1E2933"/>
                </a:solidFill>
                <a:latin typeface="Calibri"/>
              </a:rPr>
              <a:t>Zero-install browser UI; no login</a:t>
            </a:r>
          </a:p>
        </p:txBody>
      </p:sp>
      <p:sp>
        <p:nvSpPr>
          <p:cNvPr id="6" name="Rounded Rectangle 5"/>
          <p:cNvSpPr/>
          <p:nvPr/>
        </p:nvSpPr>
        <p:spPr>
          <a:xfrm>
            <a:off x="6263640" y="1554480"/>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NumPy / pandas / SciPy</a:t>
            </a:r>
          </a:p>
          <a:p>
            <a:pPr>
              <a:lnSpc>
                <a:spcPct val="103000"/>
              </a:lnSpc>
              <a:spcAft>
                <a:spcPts val="200"/>
              </a:spcAft>
            </a:pPr>
            <a:r>
              <a:rPr sz="1150" b="0" i="0">
                <a:solidFill>
                  <a:srgbClr val="1E2933"/>
                </a:solidFill>
                <a:latin typeface="Calibri"/>
              </a:rPr>
              <a:t>Vectorised numerics, curve-fitting, Lomb–Scargle</a:t>
            </a:r>
          </a:p>
        </p:txBody>
      </p:sp>
      <p:sp>
        <p:nvSpPr>
          <p:cNvPr id="7" name="Rounded Rectangle 6"/>
          <p:cNvSpPr/>
          <p:nvPr/>
        </p:nvSpPr>
        <p:spPr>
          <a:xfrm>
            <a:off x="548640" y="2816352"/>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statsmodels</a:t>
            </a:r>
          </a:p>
          <a:p>
            <a:pPr>
              <a:lnSpc>
                <a:spcPct val="103000"/>
              </a:lnSpc>
              <a:spcAft>
                <a:spcPts val="200"/>
              </a:spcAft>
            </a:pPr>
            <a:r>
              <a:rPr sz="1150" b="0" i="0">
                <a:solidFill>
                  <a:srgbClr val="1E2933"/>
                </a:solidFill>
                <a:latin typeface="Calibri"/>
              </a:rPr>
              <a:t>Peer-reviewed survival core (KM, log-rank, Cox) + meta-analysis</a:t>
            </a:r>
          </a:p>
        </p:txBody>
      </p:sp>
      <p:sp>
        <p:nvSpPr>
          <p:cNvPr id="8" name="Rounded Rectangle 7"/>
          <p:cNvSpPr/>
          <p:nvPr/>
        </p:nvSpPr>
        <p:spPr>
          <a:xfrm>
            <a:off x="6263640" y="2816352"/>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scikit-learn</a:t>
            </a:r>
          </a:p>
          <a:p>
            <a:pPr>
              <a:lnSpc>
                <a:spcPct val="103000"/>
              </a:lnSpc>
              <a:spcAft>
                <a:spcPts val="200"/>
              </a:spcAft>
            </a:pPr>
            <a:r>
              <a:rPr sz="1150" b="0" i="0">
                <a:solidFill>
                  <a:srgbClr val="1E2933"/>
                </a:solidFill>
                <a:latin typeface="Calibri"/>
              </a:rPr>
              <a:t>PCA, silhouette, StandardScaler for clustering</a:t>
            </a:r>
          </a:p>
        </p:txBody>
      </p:sp>
      <p:sp>
        <p:nvSpPr>
          <p:cNvPr id="9" name="Rounded Rectangle 8"/>
          <p:cNvSpPr/>
          <p:nvPr/>
        </p:nvSpPr>
        <p:spPr>
          <a:xfrm>
            <a:off x="548640" y="4078224"/>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OpenCV</a:t>
            </a:r>
          </a:p>
          <a:p>
            <a:pPr>
              <a:lnSpc>
                <a:spcPct val="103000"/>
              </a:lnSpc>
              <a:spcAft>
                <a:spcPts val="200"/>
              </a:spcAft>
            </a:pPr>
            <a:r>
              <a:rPr sz="1150" b="0" i="0">
                <a:solidFill>
                  <a:srgbClr val="1E2933"/>
                </a:solidFill>
                <a:latin typeface="Calibri"/>
              </a:rPr>
              <a:t>Otsu-threshold fly/larva detection (no training needed)</a:t>
            </a:r>
          </a:p>
        </p:txBody>
      </p:sp>
      <p:sp>
        <p:nvSpPr>
          <p:cNvPr id="10" name="Rounded Rectangle 9"/>
          <p:cNvSpPr/>
          <p:nvPr/>
        </p:nvSpPr>
        <p:spPr>
          <a:xfrm>
            <a:off x="6263640" y="4078224"/>
            <a:ext cx="5532120" cy="109728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Matplotlib / Plotly</a:t>
            </a:r>
          </a:p>
          <a:p>
            <a:pPr>
              <a:lnSpc>
                <a:spcPct val="103000"/>
              </a:lnSpc>
              <a:spcAft>
                <a:spcPts val="200"/>
              </a:spcAft>
            </a:pPr>
            <a:r>
              <a:rPr sz="1150" b="0" i="0">
                <a:solidFill>
                  <a:srgbClr val="1E2933"/>
                </a:solidFill>
                <a:latin typeface="Calibri"/>
              </a:rPr>
              <a:t>300-dpi publication figures; interactive plots</a:t>
            </a:r>
          </a:p>
        </p:txBody>
      </p:sp>
      <p:sp>
        <p:nvSpPr>
          <p:cNvPr id="11" name="TextBox 10"/>
          <p:cNvSpPr txBox="1"/>
          <p:nvPr/>
        </p:nvSpPr>
        <p:spPr>
          <a:xfrm>
            <a:off x="548640" y="5715000"/>
            <a:ext cx="11064240" cy="457200"/>
          </a:xfrm>
          <a:prstGeom prst="rect">
            <a:avLst/>
          </a:prstGeom>
          <a:noFill/>
        </p:spPr>
        <p:txBody>
          <a:bodyPr wrap="square" anchor="t" lIns="25400" rIns="25400" tIns="25400" bIns="25400">
            <a:spAutoFit/>
          </a:bodyPr>
          <a:lstStyle/>
          <a:p>
            <a:r>
              <a:rPr sz="1300" b="1" i="0">
                <a:solidFill>
                  <a:srgbClr val="0D2137"/>
                </a:solidFill>
                <a:latin typeface="Calibri"/>
              </a:rPr>
              <a:t>Deterministic, not a trained model: </a:t>
            </a:r>
            <a:r>
              <a:rPr sz="1300" b="0" i="0">
                <a:solidFill>
                  <a:srgbClr val="1E2933"/>
                </a:solidFill>
                <a:latin typeface="Calibri"/>
              </a:rPr>
              <a:t>detection uses Otsu thresholding, clustering is unsupervised (DTW) — no black-box weights, every step is inspectable.</a:t>
            </a:r>
          </a:p>
        </p:txBody>
      </p:sp>
      <p:sp>
        <p:nvSpPr>
          <p:cNvPr id="12" name="TextBox 11"/>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DATA</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Data sources — real published anchors, honestly labelled</a:t>
            </a:r>
          </a:p>
        </p:txBody>
      </p:sp>
      <p:sp>
        <p:nvSpPr>
          <p:cNvPr id="5" name="TextBox 4"/>
          <p:cNvSpPr txBox="1"/>
          <p:nvPr/>
        </p:nvSpPr>
        <p:spPr>
          <a:xfrm>
            <a:off x="548640" y="1554480"/>
            <a:ext cx="5852160" cy="4572000"/>
          </a:xfrm>
          <a:prstGeom prst="rect">
            <a:avLst/>
          </a:prstGeom>
          <a:noFill/>
        </p:spPr>
        <p:txBody>
          <a:bodyPr wrap="square" anchor="t" lIns="25400" rIns="25400" tIns="25400" bIns="25400">
            <a:spAutoFit/>
          </a:bodyPr>
          <a:lstStyle/>
          <a:p>
            <a:pPr>
              <a:lnSpc>
                <a:spcPct val="105000"/>
              </a:lnSpc>
              <a:spcAft>
                <a:spcPts val="1100"/>
              </a:spcAft>
            </a:pPr>
            <a:r>
              <a:rPr sz="1400" b="1" i="0">
                <a:solidFill>
                  <a:srgbClr val="F0A500"/>
                </a:solidFill>
                <a:latin typeface="Calibri"/>
              </a:rPr>
              <a:t>•  </a:t>
            </a:r>
            <a:r>
              <a:rPr sz="1400" b="1" i="0">
                <a:solidFill>
                  <a:srgbClr val="1E2933"/>
                </a:solidFill>
                <a:latin typeface="Calibri"/>
              </a:rPr>
              <a:t>Real raw data. </a:t>
            </a:r>
            <a:r>
              <a:rPr sz="1400" b="0" i="0">
                <a:solidFill>
                  <a:srgbClr val="1E2933"/>
                </a:solidFill>
                <a:latin typeface="Calibri"/>
              </a:rPr>
              <a:t>Freireich et al. 1963 6-MP leukemia trial (survival); PlantGrowth / Dobson 1983 (ANOVA).</a:t>
            </a:r>
          </a:p>
          <a:p>
            <a:pPr>
              <a:lnSpc>
                <a:spcPct val="105000"/>
              </a:lnSpc>
              <a:spcAft>
                <a:spcPts val="1100"/>
              </a:spcAft>
            </a:pPr>
            <a:r>
              <a:rPr sz="1400" b="1" i="0">
                <a:solidFill>
                  <a:srgbClr val="F0A500"/>
                </a:solidFill>
                <a:latin typeface="Calibri"/>
              </a:rPr>
              <a:t>•  </a:t>
            </a:r>
            <a:r>
              <a:rPr sz="1400" b="1" i="0">
                <a:solidFill>
                  <a:srgbClr val="1E2933"/>
                </a:solidFill>
                <a:latin typeface="Calibri"/>
              </a:rPr>
              <a:t>Real published parameters. </a:t>
            </a:r>
            <a:r>
              <a:rPr sz="1400" b="0" i="0">
                <a:solidFill>
                  <a:srgbClr val="1E2933"/>
                </a:solidFill>
                <a:latin typeface="Calibri"/>
              </a:rPr>
              <a:t>Konopka &amp; Benzer 1971 free-running periods (24 / 19 / 28 h).</a:t>
            </a:r>
          </a:p>
          <a:p>
            <a:pPr>
              <a:lnSpc>
                <a:spcPct val="105000"/>
              </a:lnSpc>
              <a:spcAft>
                <a:spcPts val="1100"/>
              </a:spcAft>
            </a:pPr>
            <a:r>
              <a:rPr sz="1400" b="1" i="0">
                <a:solidFill>
                  <a:srgbClr val="F0A500"/>
                </a:solidFill>
                <a:latin typeface="Calibri"/>
              </a:rPr>
              <a:t>•  </a:t>
            </a:r>
            <a:r>
              <a:rPr sz="1400" b="1" i="0">
                <a:solidFill>
                  <a:srgbClr val="1E2933"/>
                </a:solidFill>
                <a:latin typeface="Calibri"/>
              </a:rPr>
              <a:t>Text-verified literature values. </a:t>
            </a:r>
            <a:r>
              <a:rPr sz="1400" b="0" i="0">
                <a:solidFill>
                  <a:srgbClr val="1E2933"/>
                </a:solidFill>
                <a:latin typeface="Calibri"/>
              </a:rPr>
              <a:t>Alternation chance 50% (Lewis 2017); turn bias 0.50 &amp; 23.5% extreme (de Bivort 2015); WT lifespan ≈50 d (Linford 2013); grooming ≈13% (Qiao 2018); larval ≈1 mm/s.</a:t>
            </a:r>
          </a:p>
          <a:p>
            <a:pPr>
              <a:lnSpc>
                <a:spcPct val="105000"/>
              </a:lnSpc>
              <a:spcAft>
                <a:spcPts val="1100"/>
              </a:spcAft>
            </a:pPr>
            <a:r>
              <a:rPr sz="1400" b="1" i="0">
                <a:solidFill>
                  <a:srgbClr val="F0A500"/>
                </a:solidFill>
                <a:latin typeface="Calibri"/>
              </a:rPr>
              <a:t>•  </a:t>
            </a:r>
            <a:r>
              <a:rPr sz="1400" b="1" i="0">
                <a:solidFill>
                  <a:srgbClr val="1E2933"/>
                </a:solidFill>
                <a:latin typeface="Calibri"/>
              </a:rPr>
              <a:t>Reference datasets. </a:t>
            </a:r>
            <a:r>
              <a:rPr sz="1400" b="0" i="0">
                <a:solidFill>
                  <a:srgbClr val="1E2933"/>
                </a:solidFill>
                <a:latin typeface="Calibri"/>
              </a:rPr>
              <a:t>≥3 per assay in template format (reference_datasets/), each cited; simulations clearly labelled — no dataset is presented as raw data we did not have.</a:t>
            </a:r>
          </a:p>
        </p:txBody>
      </p:sp>
      <p:sp>
        <p:nvSpPr>
          <p:cNvPr id="6" name="Rounded Rectangle 5"/>
          <p:cNvSpPr/>
          <p:nvPr/>
        </p:nvSpPr>
        <p:spPr>
          <a:xfrm>
            <a:off x="6766560" y="1737360"/>
            <a:ext cx="4846320" cy="402336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F0A500"/>
                </a:solidFill>
                <a:latin typeface="Calibri"/>
              </a:rPr>
              <a:t>Verification-first principle</a:t>
            </a:r>
          </a:p>
          <a:p>
            <a:pPr>
              <a:lnSpc>
                <a:spcPct val="103000"/>
              </a:lnSpc>
              <a:spcAft>
                <a:spcPts val="200"/>
              </a:spcAft>
            </a:pPr>
            <a:r>
              <a:rPr sz="1150" b="0" i="0">
                <a:solidFill>
                  <a:srgbClr val="1E2933"/>
                </a:solidFill>
                <a:latin typeface="Calibri"/>
              </a:rPr>
              <a:t>Where machine-readable raw supplements were</a:t>
            </a:r>
          </a:p>
          <a:p>
            <a:pPr>
              <a:lnSpc>
                <a:spcPct val="103000"/>
              </a:lnSpc>
              <a:spcAft>
                <a:spcPts val="200"/>
              </a:spcAft>
            </a:pPr>
            <a:r>
              <a:rPr sz="1150" b="0" i="0">
                <a:solidFill>
                  <a:srgbClr val="1E2933"/>
                </a:solidFill>
                <a:latin typeface="Calibri"/>
              </a:rPr>
              <a:t>available, we used them directly.</a:t>
            </a:r>
          </a:p>
          <a:p>
            <a:pPr>
              <a:lnSpc>
                <a:spcPct val="103000"/>
              </a:lnSpc>
              <a:spcAft>
                <a:spcPts val="200"/>
              </a:spcAft>
            </a:pPr>
            <a:r>
              <a:rPr sz="1150" b="0" i="0">
                <a:solidFill>
                  <a:srgbClr val="1E2933"/>
                </a:solidFill>
                <a:latin typeface="Calibri"/>
              </a:rPr>
              <a:t>Where they were not, we simulated from</a:t>
            </a:r>
          </a:p>
          <a:p>
            <a:pPr>
              <a:lnSpc>
                <a:spcPct val="103000"/>
              </a:lnSpc>
              <a:spcAft>
                <a:spcPts val="200"/>
              </a:spcAft>
            </a:pPr>
            <a:r>
              <a:rPr sz="1150" b="0" i="0">
                <a:solidFill>
                  <a:srgbClr val="1E2933"/>
                </a:solidFill>
                <a:latin typeface="Calibri"/>
              </a:rPr>
              <a:t>explicitly cited published parameters and</a:t>
            </a:r>
          </a:p>
          <a:p>
            <a:pPr>
              <a:lnSpc>
                <a:spcPct val="103000"/>
              </a:lnSpc>
              <a:spcAft>
                <a:spcPts val="200"/>
              </a:spcAft>
            </a:pPr>
            <a:r>
              <a:rPr sz="1150" b="0" i="0">
                <a:solidFill>
                  <a:srgbClr val="1E2933"/>
                </a:solidFill>
                <a:latin typeface="Calibri"/>
              </a:rPr>
              <a:t>labelled them as such.</a:t>
            </a:r>
          </a:p>
          <a:p>
            <a:pPr>
              <a:lnSpc>
                <a:spcPct val="103000"/>
              </a:lnSpc>
              <a:spcAft>
                <a:spcPts val="200"/>
              </a:spcAft>
            </a:pPr>
            <a:r>
              <a:rPr sz="1150" b="0" i="0">
                <a:solidFill>
                  <a:srgbClr val="1E2933"/>
                </a:solidFill>
                <a:latin typeface="Calibri"/>
              </a:rPr>
              <a:t/>
            </a:r>
          </a:p>
          <a:p>
            <a:pPr>
              <a:lnSpc>
                <a:spcPct val="103000"/>
              </a:lnSpc>
              <a:spcAft>
                <a:spcPts val="200"/>
              </a:spcAft>
            </a:pPr>
            <a:r>
              <a:rPr sz="1150" b="0" i="0">
                <a:solidFill>
                  <a:srgbClr val="1E2933"/>
                </a:solidFill>
                <a:latin typeface="Calibri"/>
              </a:rPr>
              <a:t>18/18 reference datasets reproduce their</a:t>
            </a:r>
          </a:p>
          <a:p>
            <a:pPr>
              <a:lnSpc>
                <a:spcPct val="103000"/>
              </a:lnSpc>
              <a:spcAft>
                <a:spcPts val="200"/>
              </a:spcAft>
            </a:pPr>
            <a:r>
              <a:rPr sz="1150" b="0" i="0">
                <a:solidFill>
                  <a:srgbClr val="1E2933"/>
                </a:solidFill>
                <a:latin typeface="Calibri"/>
              </a:rPr>
              <a:t>cited published expectation.</a:t>
            </a:r>
          </a:p>
        </p:txBody>
      </p:sp>
      <p:sp>
        <p:nvSpPr>
          <p:cNvPr id="7" name="TextBox 6"/>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VALIDATION</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Testing parameters — what we chose and why</a:t>
            </a:r>
          </a:p>
        </p:txBody>
      </p:sp>
      <p:sp>
        <p:nvSpPr>
          <p:cNvPr id="5" name="TextBox 4"/>
          <p:cNvSpPr txBox="1"/>
          <p:nvPr/>
        </p:nvSpPr>
        <p:spPr>
          <a:xfrm>
            <a:off x="548640" y="1481328"/>
            <a:ext cx="11064240" cy="274320"/>
          </a:xfrm>
          <a:prstGeom prst="rect">
            <a:avLst/>
          </a:prstGeom>
          <a:noFill/>
        </p:spPr>
        <p:txBody>
          <a:bodyPr wrap="square" anchor="t" lIns="25400" rIns="25400" tIns="25400" bIns="25400">
            <a:spAutoFit/>
          </a:bodyPr>
          <a:lstStyle/>
          <a:p>
            <a:r>
              <a:rPr sz="1350" b="0" i="1">
                <a:solidFill>
                  <a:srgbClr val="5A6B7B"/>
                </a:solidFill>
                <a:latin typeface="Calibri"/>
              </a:rPr>
              <a:t>Every parameter is set from the literature, not tuned to flatter the result.</a:t>
            </a:r>
          </a:p>
        </p:txBody>
      </p:sp>
      <p:sp>
        <p:nvSpPr>
          <p:cNvPr id="6" name="TextBox 5"/>
          <p:cNvSpPr txBox="1"/>
          <p:nvPr/>
        </p:nvSpPr>
        <p:spPr>
          <a:xfrm>
            <a:off x="548640" y="1920240"/>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Sleep threshold</a:t>
            </a:r>
          </a:p>
        </p:txBody>
      </p:sp>
      <p:sp>
        <p:nvSpPr>
          <p:cNvPr id="7" name="TextBox 6"/>
          <p:cNvSpPr txBox="1"/>
          <p:nvPr/>
        </p:nvSpPr>
        <p:spPr>
          <a:xfrm>
            <a:off x="3383280" y="1920240"/>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≥5 min inactivity</a:t>
            </a:r>
          </a:p>
        </p:txBody>
      </p:sp>
      <p:sp>
        <p:nvSpPr>
          <p:cNvPr id="8" name="TextBox 7"/>
          <p:cNvSpPr txBox="1"/>
          <p:nvPr/>
        </p:nvSpPr>
        <p:spPr>
          <a:xfrm>
            <a:off x="6355080" y="1920240"/>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Hendricks/Shaw 2000 operational definition</a:t>
            </a:r>
          </a:p>
        </p:txBody>
      </p:sp>
      <p:sp>
        <p:nvSpPr>
          <p:cNvPr id="9" name="Rectangle 8"/>
          <p:cNvSpPr/>
          <p:nvPr/>
        </p:nvSpPr>
        <p:spPr>
          <a:xfrm>
            <a:off x="548640" y="2450592"/>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96312"/>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Alternation chance</a:t>
            </a:r>
          </a:p>
        </p:txBody>
      </p:sp>
      <p:sp>
        <p:nvSpPr>
          <p:cNvPr id="11" name="TextBox 10"/>
          <p:cNvSpPr txBox="1"/>
          <p:nvPr/>
        </p:nvSpPr>
        <p:spPr>
          <a:xfrm>
            <a:off x="3383280" y="2496312"/>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50%</a:t>
            </a:r>
          </a:p>
        </p:txBody>
      </p:sp>
      <p:sp>
        <p:nvSpPr>
          <p:cNvPr id="12" name="TextBox 11"/>
          <p:cNvSpPr txBox="1"/>
          <p:nvPr/>
        </p:nvSpPr>
        <p:spPr>
          <a:xfrm>
            <a:off x="6355080" y="2496312"/>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Lewis 2017; emerges from the arm geometry</a:t>
            </a:r>
          </a:p>
        </p:txBody>
      </p:sp>
      <p:sp>
        <p:nvSpPr>
          <p:cNvPr id="13" name="Rectangle 12"/>
          <p:cNvSpPr/>
          <p:nvPr/>
        </p:nvSpPr>
        <p:spPr>
          <a:xfrm>
            <a:off x="548640" y="3026664"/>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72384"/>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Reference periods</a:t>
            </a:r>
          </a:p>
        </p:txBody>
      </p:sp>
      <p:sp>
        <p:nvSpPr>
          <p:cNvPr id="15" name="TextBox 14"/>
          <p:cNvSpPr txBox="1"/>
          <p:nvPr/>
        </p:nvSpPr>
        <p:spPr>
          <a:xfrm>
            <a:off x="3383280" y="3072384"/>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24 / 19 / 28 h</a:t>
            </a:r>
          </a:p>
        </p:txBody>
      </p:sp>
      <p:sp>
        <p:nvSpPr>
          <p:cNvPr id="16" name="TextBox 15"/>
          <p:cNvSpPr txBox="1"/>
          <p:nvPr/>
        </p:nvSpPr>
        <p:spPr>
          <a:xfrm>
            <a:off x="6355080" y="3072384"/>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Konopka &amp; Benzer 1971 wild-type / perS / perL</a:t>
            </a:r>
          </a:p>
        </p:txBody>
      </p:sp>
      <p:sp>
        <p:nvSpPr>
          <p:cNvPr id="17" name="Rectangle 16"/>
          <p:cNvSpPr/>
          <p:nvPr/>
        </p:nvSpPr>
        <p:spPr>
          <a:xfrm>
            <a:off x="548640" y="3602736"/>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48456"/>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Periodogram range</a:t>
            </a:r>
          </a:p>
        </p:txBody>
      </p:sp>
      <p:sp>
        <p:nvSpPr>
          <p:cNvPr id="19" name="TextBox 18"/>
          <p:cNvSpPr txBox="1"/>
          <p:nvPr/>
        </p:nvSpPr>
        <p:spPr>
          <a:xfrm>
            <a:off x="3383280" y="3648456"/>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16–32 h, Bonferroni</a:t>
            </a:r>
          </a:p>
        </p:txBody>
      </p:sp>
      <p:sp>
        <p:nvSpPr>
          <p:cNvPr id="20" name="TextBox 19"/>
          <p:cNvSpPr txBox="1"/>
          <p:nvPr/>
        </p:nvSpPr>
        <p:spPr>
          <a:xfrm>
            <a:off x="6355080" y="3648456"/>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Circadian band; controls family-wise error</a:t>
            </a:r>
          </a:p>
        </p:txBody>
      </p:sp>
      <p:sp>
        <p:nvSpPr>
          <p:cNvPr id="21" name="Rectangle 20"/>
          <p:cNvSpPr/>
          <p:nvPr/>
        </p:nvSpPr>
        <p:spPr>
          <a:xfrm>
            <a:off x="548640" y="4178808"/>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24528"/>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Turn-bias spread</a:t>
            </a:r>
          </a:p>
        </p:txBody>
      </p:sp>
      <p:sp>
        <p:nvSpPr>
          <p:cNvPr id="23" name="TextBox 22"/>
          <p:cNvSpPr txBox="1"/>
          <p:nvPr/>
        </p:nvSpPr>
        <p:spPr>
          <a:xfrm>
            <a:off x="3383280" y="4224528"/>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23.5% outside [0.3,0.7]</a:t>
            </a:r>
          </a:p>
        </p:txBody>
      </p:sp>
      <p:sp>
        <p:nvSpPr>
          <p:cNvPr id="24" name="TextBox 23"/>
          <p:cNvSpPr txBox="1"/>
          <p:nvPr/>
        </p:nvSpPr>
        <p:spPr>
          <a:xfrm>
            <a:off x="6355080" y="4224528"/>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de Bivort 2015 Canton-S distribution</a:t>
            </a:r>
          </a:p>
        </p:txBody>
      </p:sp>
      <p:sp>
        <p:nvSpPr>
          <p:cNvPr id="25" name="Rectangle 24"/>
          <p:cNvSpPr/>
          <p:nvPr/>
        </p:nvSpPr>
        <p:spPr>
          <a:xfrm>
            <a:off x="548640" y="4754880"/>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800600"/>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MDR axis</a:t>
            </a:r>
          </a:p>
        </p:txBody>
      </p:sp>
      <p:sp>
        <p:nvSpPr>
          <p:cNvPr id="27" name="TextBox 26"/>
          <p:cNvSpPr txBox="1"/>
          <p:nvPr/>
        </p:nvSpPr>
        <p:spPr>
          <a:xfrm>
            <a:off x="3383280" y="4800600"/>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Age (days)</a:t>
            </a:r>
          </a:p>
        </p:txBody>
      </p:sp>
      <p:sp>
        <p:nvSpPr>
          <p:cNvPr id="28" name="TextBox 27"/>
          <p:cNvSpPr txBox="1"/>
          <p:nvPr/>
        </p:nvSpPr>
        <p:spPr>
          <a:xfrm>
            <a:off x="6355080" y="4800600"/>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Negative geotaxis is age-dependent (Gargano 2005)</a:t>
            </a:r>
          </a:p>
        </p:txBody>
      </p:sp>
      <p:sp>
        <p:nvSpPr>
          <p:cNvPr id="29" name="Rectangle 28"/>
          <p:cNvSpPr/>
          <p:nvPr/>
        </p:nvSpPr>
        <p:spPr>
          <a:xfrm>
            <a:off x="548640" y="5330952"/>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376672"/>
            <a:ext cx="2743200" cy="548640"/>
          </a:xfrm>
          <a:prstGeom prst="rect">
            <a:avLst/>
          </a:prstGeom>
          <a:noFill/>
        </p:spPr>
        <p:txBody>
          <a:bodyPr wrap="square" anchor="ctr" lIns="25400" rIns="25400" tIns="25400" bIns="25400">
            <a:spAutoFit/>
          </a:bodyPr>
          <a:lstStyle/>
          <a:p>
            <a:r>
              <a:rPr sz="1250" b="1" i="0">
                <a:solidFill>
                  <a:srgbClr val="0D2137"/>
                </a:solidFill>
                <a:latin typeface="Calibri"/>
              </a:rPr>
              <a:t>Ties method (Cox)</a:t>
            </a:r>
          </a:p>
        </p:txBody>
      </p:sp>
      <p:sp>
        <p:nvSpPr>
          <p:cNvPr id="31" name="TextBox 30"/>
          <p:cNvSpPr txBox="1"/>
          <p:nvPr/>
        </p:nvSpPr>
        <p:spPr>
          <a:xfrm>
            <a:off x="3383280" y="5376672"/>
            <a:ext cx="2834640" cy="548640"/>
          </a:xfrm>
          <a:prstGeom prst="rect">
            <a:avLst/>
          </a:prstGeom>
          <a:noFill/>
        </p:spPr>
        <p:txBody>
          <a:bodyPr wrap="square" anchor="ctr" lIns="25400" rIns="25400" tIns="25400" bIns="25400">
            <a:spAutoFit/>
          </a:bodyPr>
          <a:lstStyle/>
          <a:p>
            <a:r>
              <a:rPr sz="1250" b="1" i="0">
                <a:solidFill>
                  <a:srgbClr val="009E73"/>
                </a:solidFill>
                <a:latin typeface="Cambria"/>
              </a:rPr>
              <a:t>Breslow</a:t>
            </a:r>
          </a:p>
        </p:txBody>
      </p:sp>
      <p:sp>
        <p:nvSpPr>
          <p:cNvPr id="32" name="TextBox 31"/>
          <p:cNvSpPr txBox="1"/>
          <p:nvPr/>
        </p:nvSpPr>
        <p:spPr>
          <a:xfrm>
            <a:off x="6355080" y="5376672"/>
            <a:ext cx="5303520" cy="548640"/>
          </a:xfrm>
          <a:prstGeom prst="rect">
            <a:avLst/>
          </a:prstGeom>
          <a:noFill/>
        </p:spPr>
        <p:txBody>
          <a:bodyPr wrap="square" anchor="ctr" lIns="25400" rIns="25400" tIns="25400" bIns="25400">
            <a:spAutoFit/>
          </a:bodyPr>
          <a:lstStyle/>
          <a:p>
            <a:r>
              <a:rPr sz="1150" b="0" i="0">
                <a:solidFill>
                  <a:srgbClr val="1E2933"/>
                </a:solidFill>
                <a:latin typeface="Calibri"/>
              </a:rPr>
              <a:t>Matches published Klein–Moeschberger value</a:t>
            </a:r>
          </a:p>
        </p:txBody>
      </p:sp>
      <p:sp>
        <p:nvSpPr>
          <p:cNvPr id="33" name="Rectangle 32"/>
          <p:cNvSpPr/>
          <p:nvPr/>
        </p:nvSpPr>
        <p:spPr>
          <a:xfrm>
            <a:off x="548640" y="5907024"/>
            <a:ext cx="11109960" cy="9525"/>
          </a:xfrm>
          <a:prstGeom prst="rect">
            <a:avLst/>
          </a:prstGeom>
          <a:solidFill>
            <a:srgbClr val="C5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RESULTS · VALIDATION</a:t>
            </a:r>
          </a:p>
        </p:txBody>
      </p:sp>
      <p:sp>
        <p:nvSpPr>
          <p:cNvPr id="4" name="TextBox 3"/>
          <p:cNvSpPr txBox="1"/>
          <p:nvPr/>
        </p:nvSpPr>
        <p:spPr>
          <a:xfrm>
            <a:off x="548640" y="777240"/>
            <a:ext cx="11064240" cy="640080"/>
          </a:xfrm>
          <a:prstGeom prst="rect">
            <a:avLst/>
          </a:prstGeom>
          <a:noFill/>
        </p:spPr>
        <p:txBody>
          <a:bodyPr wrap="square" anchor="t" lIns="25400" rIns="25400" tIns="25400" bIns="25400">
            <a:spAutoFit/>
          </a:bodyPr>
          <a:lstStyle/>
          <a:p>
            <a:r>
              <a:rPr sz="3000" b="1" i="0">
                <a:solidFill>
                  <a:srgbClr val="FFFFFF"/>
                </a:solidFill>
                <a:latin typeface="Calibri"/>
              </a:rPr>
              <a:t>Every module reproduces published benchmarks</a:t>
            </a:r>
          </a:p>
        </p:txBody>
      </p:sp>
      <p:sp>
        <p:nvSpPr>
          <p:cNvPr id="5" name="TextBox 4"/>
          <p:cNvSpPr txBox="1"/>
          <p:nvPr/>
        </p:nvSpPr>
        <p:spPr>
          <a:xfrm>
            <a:off x="640080" y="1737360"/>
            <a:ext cx="2560320" cy="685800"/>
          </a:xfrm>
          <a:prstGeom prst="rect">
            <a:avLst/>
          </a:prstGeom>
          <a:noFill/>
        </p:spPr>
        <p:txBody>
          <a:bodyPr wrap="square" anchor="b" lIns="25400" rIns="25400" tIns="25400" bIns="25400">
            <a:spAutoFit/>
          </a:bodyPr>
          <a:lstStyle/>
          <a:p>
            <a:pPr algn="ctr"/>
            <a:r>
              <a:rPr sz="4000" b="1" i="0">
                <a:solidFill>
                  <a:srgbClr val="F0A500"/>
                </a:solidFill>
                <a:latin typeface="Calibri"/>
              </a:rPr>
              <a:t>12/12</a:t>
            </a:r>
          </a:p>
        </p:txBody>
      </p:sp>
      <p:sp>
        <p:nvSpPr>
          <p:cNvPr id="6" name="TextBox 5"/>
          <p:cNvSpPr txBox="1"/>
          <p:nvPr/>
        </p:nvSpPr>
        <p:spPr>
          <a:xfrm>
            <a:off x="640080" y="2450592"/>
            <a:ext cx="2560320" cy="502920"/>
          </a:xfrm>
          <a:prstGeom prst="rect">
            <a:avLst/>
          </a:prstGeom>
          <a:noFill/>
        </p:spPr>
        <p:txBody>
          <a:bodyPr wrap="square" anchor="t" lIns="25400" rIns="25400" tIns="25400" bIns="25400">
            <a:spAutoFit/>
          </a:bodyPr>
          <a:lstStyle/>
          <a:p>
            <a:pPr algn="ctr"/>
            <a:r>
              <a:rPr sz="1150" b="0" i="0">
                <a:solidFill>
                  <a:srgbClr val="FFFFFF"/>
                </a:solidFill>
                <a:latin typeface="Calibri"/>
              </a:rPr>
              <a:t>validation suites pass</a:t>
            </a:r>
          </a:p>
        </p:txBody>
      </p:sp>
      <p:sp>
        <p:nvSpPr>
          <p:cNvPr id="7" name="TextBox 6"/>
          <p:cNvSpPr txBox="1"/>
          <p:nvPr/>
        </p:nvSpPr>
        <p:spPr>
          <a:xfrm>
            <a:off x="3429000" y="1737360"/>
            <a:ext cx="2560320" cy="685800"/>
          </a:xfrm>
          <a:prstGeom prst="rect">
            <a:avLst/>
          </a:prstGeom>
          <a:noFill/>
        </p:spPr>
        <p:txBody>
          <a:bodyPr wrap="square" anchor="b" lIns="25400" rIns="25400" tIns="25400" bIns="25400">
            <a:spAutoFit/>
          </a:bodyPr>
          <a:lstStyle/>
          <a:p>
            <a:pPr algn="ctr"/>
            <a:r>
              <a:rPr sz="4000" b="1" i="0">
                <a:solidFill>
                  <a:srgbClr val="F0A500"/>
                </a:solidFill>
                <a:latin typeface="Calibri"/>
              </a:rPr>
              <a:t>χ² = 16.79</a:t>
            </a:r>
          </a:p>
        </p:txBody>
      </p:sp>
      <p:sp>
        <p:nvSpPr>
          <p:cNvPr id="8" name="TextBox 7"/>
          <p:cNvSpPr txBox="1"/>
          <p:nvPr/>
        </p:nvSpPr>
        <p:spPr>
          <a:xfrm>
            <a:off x="3429000" y="2450592"/>
            <a:ext cx="2560320" cy="502920"/>
          </a:xfrm>
          <a:prstGeom prst="rect">
            <a:avLst/>
          </a:prstGeom>
          <a:noFill/>
        </p:spPr>
        <p:txBody>
          <a:bodyPr wrap="square" anchor="t" lIns="25400" rIns="25400" tIns="25400" bIns="25400">
            <a:spAutoFit/>
          </a:bodyPr>
          <a:lstStyle/>
          <a:p>
            <a:pPr algn="ctr"/>
            <a:r>
              <a:rPr sz="1150" b="0" i="0">
                <a:solidFill>
                  <a:srgbClr val="FFFFFF"/>
                </a:solidFill>
                <a:latin typeface="Calibri"/>
              </a:rPr>
              <a:t>Freireich log-rank (published)</a:t>
            </a:r>
          </a:p>
        </p:txBody>
      </p:sp>
      <p:sp>
        <p:nvSpPr>
          <p:cNvPr id="9" name="TextBox 8"/>
          <p:cNvSpPr txBox="1"/>
          <p:nvPr/>
        </p:nvSpPr>
        <p:spPr>
          <a:xfrm>
            <a:off x="6217920" y="1737360"/>
            <a:ext cx="2560320" cy="685800"/>
          </a:xfrm>
          <a:prstGeom prst="rect">
            <a:avLst/>
          </a:prstGeom>
          <a:noFill/>
        </p:spPr>
        <p:txBody>
          <a:bodyPr wrap="square" anchor="b" lIns="25400" rIns="25400" tIns="25400" bIns="25400">
            <a:spAutoFit/>
          </a:bodyPr>
          <a:lstStyle/>
          <a:p>
            <a:pPr algn="ctr"/>
            <a:r>
              <a:rPr sz="4000" b="1" i="0">
                <a:solidFill>
                  <a:srgbClr val="F0A500"/>
                </a:solidFill>
                <a:latin typeface="Calibri"/>
              </a:rPr>
              <a:t>HR = 4.52</a:t>
            </a:r>
          </a:p>
        </p:txBody>
      </p:sp>
      <p:sp>
        <p:nvSpPr>
          <p:cNvPr id="10" name="TextBox 9"/>
          <p:cNvSpPr txBox="1"/>
          <p:nvPr/>
        </p:nvSpPr>
        <p:spPr>
          <a:xfrm>
            <a:off x="6217920" y="2450592"/>
            <a:ext cx="2560320" cy="502920"/>
          </a:xfrm>
          <a:prstGeom prst="rect">
            <a:avLst/>
          </a:prstGeom>
          <a:noFill/>
        </p:spPr>
        <p:txBody>
          <a:bodyPr wrap="square" anchor="t" lIns="25400" rIns="25400" tIns="25400" bIns="25400">
            <a:spAutoFit/>
          </a:bodyPr>
          <a:lstStyle/>
          <a:p>
            <a:pPr algn="ctr"/>
            <a:r>
              <a:rPr sz="1150" b="0" i="0">
                <a:solidFill>
                  <a:srgbClr val="FFFFFF"/>
                </a:solidFill>
                <a:latin typeface="Calibri"/>
              </a:rPr>
              <a:t>Cox hazard ratio (= published)</a:t>
            </a:r>
          </a:p>
        </p:txBody>
      </p:sp>
      <p:sp>
        <p:nvSpPr>
          <p:cNvPr id="11" name="TextBox 10"/>
          <p:cNvSpPr txBox="1"/>
          <p:nvPr/>
        </p:nvSpPr>
        <p:spPr>
          <a:xfrm>
            <a:off x="9006839" y="1737360"/>
            <a:ext cx="2560320" cy="685800"/>
          </a:xfrm>
          <a:prstGeom prst="rect">
            <a:avLst/>
          </a:prstGeom>
          <a:noFill/>
        </p:spPr>
        <p:txBody>
          <a:bodyPr wrap="square" anchor="b" lIns="25400" rIns="25400" tIns="25400" bIns="25400">
            <a:spAutoFit/>
          </a:bodyPr>
          <a:lstStyle/>
          <a:p>
            <a:pPr algn="ctr"/>
            <a:r>
              <a:rPr sz="4000" b="1" i="0">
                <a:solidFill>
                  <a:srgbClr val="F0A500"/>
                </a:solidFill>
                <a:latin typeface="Calibri"/>
              </a:rPr>
              <a:t>r = 0.989</a:t>
            </a:r>
          </a:p>
        </p:txBody>
      </p:sp>
      <p:sp>
        <p:nvSpPr>
          <p:cNvPr id="12" name="TextBox 11"/>
          <p:cNvSpPr txBox="1"/>
          <p:nvPr/>
        </p:nvSpPr>
        <p:spPr>
          <a:xfrm>
            <a:off x="9006839" y="2450592"/>
            <a:ext cx="2560320" cy="502920"/>
          </a:xfrm>
          <a:prstGeom prst="rect">
            <a:avLst/>
          </a:prstGeom>
          <a:noFill/>
        </p:spPr>
        <p:txBody>
          <a:bodyPr wrap="square" anchor="t" lIns="25400" rIns="25400" tIns="25400" bIns="25400">
            <a:spAutoFit/>
          </a:bodyPr>
          <a:lstStyle/>
          <a:p>
            <a:pPr algn="ctr"/>
            <a:r>
              <a:rPr sz="1150" b="0" i="0">
                <a:solidFill>
                  <a:srgbClr val="FFFFFF"/>
                </a:solidFill>
                <a:latin typeface="Calibri"/>
              </a:rPr>
              <a:t>MDR k-recovery</a:t>
            </a:r>
          </a:p>
        </p:txBody>
      </p:sp>
      <p:pic>
        <p:nvPicPr>
          <p:cNvPr id="13" name="Picture 12" descr="Figure1_validation.png"/>
          <p:cNvPicPr>
            <a:picLocks noChangeAspect="1"/>
          </p:cNvPicPr>
          <p:nvPr/>
        </p:nvPicPr>
        <p:blipFill>
          <a:blip r:embed="rId2"/>
          <a:stretch>
            <a:fillRect/>
          </a:stretch>
        </p:blipFill>
        <p:spPr>
          <a:xfrm>
            <a:off x="1234440" y="3200400"/>
            <a:ext cx="9692640" cy="5752507"/>
          </a:xfrm>
          <a:prstGeom prst="rect">
            <a:avLst/>
          </a:prstGeom>
        </p:spPr>
      </p:pic>
      <p:sp>
        <p:nvSpPr>
          <p:cNvPr id="14" name="TextBox 13"/>
          <p:cNvSpPr txBox="1"/>
          <p:nvPr/>
        </p:nvSpPr>
        <p:spPr>
          <a:xfrm>
            <a:off x="548640" y="6355080"/>
            <a:ext cx="11064240" cy="365760"/>
          </a:xfrm>
          <a:prstGeom prst="rect">
            <a:avLst/>
          </a:prstGeom>
          <a:noFill/>
        </p:spPr>
        <p:txBody>
          <a:bodyPr wrap="square" anchor="t" lIns="25400" rIns="25400" tIns="25400" bIns="25400">
            <a:spAutoFit/>
          </a:bodyPr>
          <a:lstStyle/>
          <a:p>
            <a:r>
              <a:rPr sz="1100" b="0" i="1">
                <a:solidFill>
                  <a:srgbClr val="EEF2F9"/>
                </a:solidFill>
                <a:latin typeface="Calibri"/>
              </a:rPr>
              <a:t>Kaplan–Meier vs lifelines · climbing kinetics · MDR over age · periodogram · handedness · drug ranking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RESULTS · COMPARISON</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Agreement with seven established, independent tools</a:t>
            </a:r>
          </a:p>
        </p:txBody>
      </p:sp>
      <p:sp>
        <p:nvSpPr>
          <p:cNvPr id="5" name="Rounded Rectangle 4"/>
          <p:cNvSpPr/>
          <p:nvPr/>
        </p:nvSpPr>
        <p:spPr>
          <a:xfrm>
            <a:off x="640080" y="1600200"/>
            <a:ext cx="1783080" cy="1371600"/>
          </a:xfrm>
          <a:prstGeom prst="round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F0A500"/>
                </a:solidFill>
                <a:latin typeface="Calibri"/>
              </a:rPr>
              <a:t>24/24</a:t>
            </a:r>
          </a:p>
          <a:p>
            <a:pPr algn="ctr"/>
            <a:r>
              <a:rPr sz="1100" b="0" i="0">
                <a:solidFill>
                  <a:srgbClr val="FFFFFF"/>
                </a:solidFill>
                <a:latin typeface="Calibri"/>
              </a:rPr>
              <a:t>metrics agree</a:t>
            </a:r>
          </a:p>
        </p:txBody>
      </p:sp>
      <p:sp>
        <p:nvSpPr>
          <p:cNvPr id="6" name="Rounded Rectangle 5"/>
          <p:cNvSpPr/>
          <p:nvPr/>
        </p:nvSpPr>
        <p:spPr>
          <a:xfrm>
            <a:off x="2606039" y="1600200"/>
            <a:ext cx="1783080" cy="1371600"/>
          </a:xfrm>
          <a:prstGeom prst="round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F0A500"/>
                </a:solidFill>
                <a:latin typeface="Calibri"/>
              </a:rPr>
              <a:t>r = 1.0000</a:t>
            </a:r>
          </a:p>
          <a:p>
            <a:pPr algn="ctr"/>
            <a:r>
              <a:rPr sz="1100" b="0" i="0">
                <a:solidFill>
                  <a:srgbClr val="FFFFFF"/>
                </a:solidFill>
                <a:latin typeface="Calibri"/>
              </a:rPr>
              <a:t>DroPhenix vs reference</a:t>
            </a:r>
          </a:p>
        </p:txBody>
      </p:sp>
      <p:sp>
        <p:nvSpPr>
          <p:cNvPr id="7" name="Rounded Rectangle 6"/>
          <p:cNvSpPr/>
          <p:nvPr/>
        </p:nvSpPr>
        <p:spPr>
          <a:xfrm>
            <a:off x="4572000" y="1600200"/>
            <a:ext cx="1783080" cy="1371600"/>
          </a:xfrm>
          <a:prstGeom prst="round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F0A500"/>
                </a:solidFill>
                <a:latin typeface="Calibri"/>
              </a:rPr>
              <a:t>7</a:t>
            </a:r>
          </a:p>
          <a:p>
            <a:pPr algn="ctr"/>
            <a:r>
              <a:rPr sz="1100" b="0" i="0">
                <a:solidFill>
                  <a:srgbClr val="FFFFFF"/>
                </a:solidFill>
                <a:latin typeface="Calibri"/>
              </a:rPr>
              <a:t>reference tools</a:t>
            </a:r>
          </a:p>
        </p:txBody>
      </p:sp>
      <p:sp>
        <p:nvSpPr>
          <p:cNvPr id="8" name="TextBox 7"/>
          <p:cNvSpPr txBox="1"/>
          <p:nvPr/>
        </p:nvSpPr>
        <p:spPr>
          <a:xfrm>
            <a:off x="640080" y="3246120"/>
            <a:ext cx="5486400" cy="2926080"/>
          </a:xfrm>
          <a:prstGeom prst="rect">
            <a:avLst/>
          </a:prstGeom>
          <a:noFill/>
        </p:spPr>
        <p:txBody>
          <a:bodyPr wrap="square" anchor="t" lIns="25400" rIns="25400" tIns="25400" bIns="25400">
            <a:spAutoFit/>
          </a:bodyPr>
          <a:lstStyle/>
          <a:p>
            <a:pPr>
              <a:lnSpc>
                <a:spcPct val="105000"/>
              </a:lnSpc>
              <a:spcAft>
                <a:spcPts val="900"/>
              </a:spcAft>
            </a:pPr>
            <a:r>
              <a:rPr sz="1350" b="1" i="0">
                <a:solidFill>
                  <a:srgbClr val="F0A500"/>
                </a:solidFill>
                <a:latin typeface="Calibri"/>
              </a:rPr>
              <a:t>•  </a:t>
            </a:r>
            <a:r>
              <a:rPr sz="1350" b="1" i="0">
                <a:solidFill>
                  <a:srgbClr val="1E2933"/>
                </a:solidFill>
                <a:latin typeface="Calibri"/>
              </a:rPr>
              <a:t>R survival + base R </a:t>
            </a:r>
            <a:r>
              <a:rPr sz="1350" b="0" i="0">
                <a:solidFill>
                  <a:srgbClr val="1E2933"/>
                </a:solidFill>
                <a:latin typeface="Calibri"/>
              </a:rPr>
              <a:t>— KM, log-rank, Cox (Breslow), ANOVA, Kruskal: exact</a:t>
            </a:r>
          </a:p>
          <a:p>
            <a:pPr>
              <a:lnSpc>
                <a:spcPct val="105000"/>
              </a:lnSpc>
              <a:spcAft>
                <a:spcPts val="900"/>
              </a:spcAft>
            </a:pPr>
            <a:r>
              <a:rPr sz="1350" b="1" i="0">
                <a:solidFill>
                  <a:srgbClr val="F0A500"/>
                </a:solidFill>
                <a:latin typeface="Calibri"/>
              </a:rPr>
              <a:t>•  </a:t>
            </a:r>
            <a:r>
              <a:rPr sz="1350" b="1" i="0">
                <a:solidFill>
                  <a:srgbClr val="1E2933"/>
                </a:solidFill>
                <a:latin typeface="Calibri"/>
              </a:rPr>
              <a:t>lifelines / statsmodels </a:t>
            </a:r>
            <a:r>
              <a:rPr sz="1350" b="0" i="0">
                <a:solidFill>
                  <a:srgbClr val="1E2933"/>
                </a:solidFill>
                <a:latin typeface="Calibri"/>
              </a:rPr>
              <a:t>— survival &amp; meta-analysis: exact to 6 dp</a:t>
            </a:r>
          </a:p>
          <a:p>
            <a:pPr>
              <a:lnSpc>
                <a:spcPct val="105000"/>
              </a:lnSpc>
              <a:spcAft>
                <a:spcPts val="900"/>
              </a:spcAft>
            </a:pPr>
            <a:r>
              <a:rPr sz="1350" b="1" i="0">
                <a:solidFill>
                  <a:srgbClr val="F0A500"/>
                </a:solidFill>
                <a:latin typeface="Calibri"/>
              </a:rPr>
              <a:t>•  </a:t>
            </a:r>
            <a:r>
              <a:rPr sz="1350" b="1" i="0">
                <a:solidFill>
                  <a:srgbClr val="1E2933"/>
                </a:solidFill>
                <a:latin typeface="Calibri"/>
              </a:rPr>
              <a:t>scipy / pingouin </a:t>
            </a:r>
            <a:r>
              <a:rPr sz="1350" b="0" i="0">
                <a:solidFill>
                  <a:srgbClr val="1E2933"/>
                </a:solidFill>
                <a:latin typeface="Calibri"/>
              </a:rPr>
              <a:t>— ANOVA / Kruskal / Hedges g: exact</a:t>
            </a:r>
          </a:p>
          <a:p>
            <a:pPr>
              <a:lnSpc>
                <a:spcPct val="105000"/>
              </a:lnSpc>
              <a:spcAft>
                <a:spcPts val="900"/>
              </a:spcAft>
            </a:pPr>
            <a:r>
              <a:rPr sz="1350" b="1" i="0">
                <a:solidFill>
                  <a:srgbClr val="F0A500"/>
                </a:solidFill>
                <a:latin typeface="Calibri"/>
              </a:rPr>
              <a:t>•  </a:t>
            </a:r>
            <a:r>
              <a:rPr sz="1350" b="1" i="0">
                <a:solidFill>
                  <a:srgbClr val="1E2933"/>
                </a:solidFill>
                <a:latin typeface="Calibri"/>
              </a:rPr>
              <a:t>astropy + pyBOAT </a:t>
            </a:r>
            <a:r>
              <a:rPr sz="1350" b="0" i="0">
                <a:solidFill>
                  <a:srgbClr val="1E2933"/>
                </a:solidFill>
                <a:latin typeface="Calibri"/>
              </a:rPr>
              <a:t>— circadian period 24.00 vs 23.96 h (two methods)</a:t>
            </a:r>
          </a:p>
        </p:txBody>
      </p:sp>
      <p:pic>
        <p:nvPicPr>
          <p:cNvPr id="9" name="Picture 8" descr="Figure3_tool_agreement.png"/>
          <p:cNvPicPr>
            <a:picLocks noChangeAspect="1"/>
          </p:cNvPicPr>
          <p:nvPr/>
        </p:nvPicPr>
        <p:blipFill>
          <a:blip r:embed="rId2"/>
          <a:stretch>
            <a:fillRect/>
          </a:stretch>
        </p:blipFill>
        <p:spPr>
          <a:xfrm>
            <a:off x="6583680" y="1508760"/>
            <a:ext cx="5391134" cy="4480560"/>
          </a:xfrm>
          <a:prstGeom prst="rect">
            <a:avLst/>
          </a:prstGeom>
        </p:spPr>
      </p:pic>
      <p:sp>
        <p:nvSpPr>
          <p:cNvPr id="10" name="TextBox 9"/>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TRUST</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Why DroPhenix is reliable</a:t>
            </a:r>
          </a:p>
        </p:txBody>
      </p:sp>
      <p:sp>
        <p:nvSpPr>
          <p:cNvPr id="5" name="Rounded Rectangle 4"/>
          <p:cNvSpPr/>
          <p:nvPr/>
        </p:nvSpPr>
        <p:spPr>
          <a:xfrm>
            <a:off x="548640" y="1554480"/>
            <a:ext cx="11109960" cy="841248"/>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Reproduces published data</a:t>
            </a:r>
          </a:p>
          <a:p>
            <a:pPr>
              <a:lnSpc>
                <a:spcPct val="103000"/>
              </a:lnSpc>
              <a:spcAft>
                <a:spcPts val="200"/>
              </a:spcAft>
            </a:pPr>
            <a:r>
              <a:rPr sz="1150" b="0" i="0">
                <a:solidFill>
                  <a:srgbClr val="1E2933"/>
                </a:solidFill>
                <a:latin typeface="Calibri"/>
              </a:rPr>
              <a:t>Textbook datasets (Freireich, PlantGrowth, Konopka–Benzer) return their exact published statistics.</a:t>
            </a:r>
          </a:p>
        </p:txBody>
      </p:sp>
      <p:sp>
        <p:nvSpPr>
          <p:cNvPr id="6" name="Rounded Rectangle 5"/>
          <p:cNvSpPr/>
          <p:nvPr/>
        </p:nvSpPr>
        <p:spPr>
          <a:xfrm>
            <a:off x="548640" y="2505456"/>
            <a:ext cx="11109960" cy="841248"/>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Agrees with gold-standard software</a:t>
            </a:r>
          </a:p>
          <a:p>
            <a:pPr>
              <a:lnSpc>
                <a:spcPct val="103000"/>
              </a:lnSpc>
              <a:spcAft>
                <a:spcPts val="200"/>
              </a:spcAft>
            </a:pPr>
            <a:r>
              <a:rPr sz="1150" b="0" i="0">
                <a:solidFill>
                  <a:srgbClr val="1E2933"/>
                </a:solidFill>
                <a:latin typeface="Calibri"/>
              </a:rPr>
              <a:t>24/24 metrics match R survival, lifelines, statsmodels, scipy, pingouin, astropy, pyBOAT (r = 1.0000).</a:t>
            </a:r>
          </a:p>
        </p:txBody>
      </p:sp>
      <p:sp>
        <p:nvSpPr>
          <p:cNvPr id="7" name="Rounded Rectangle 6"/>
          <p:cNvSpPr/>
          <p:nvPr/>
        </p:nvSpPr>
        <p:spPr>
          <a:xfrm>
            <a:off x="548640" y="3456432"/>
            <a:ext cx="11109960" cy="841248"/>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Correct by construction</a:t>
            </a:r>
          </a:p>
          <a:p>
            <a:pPr>
              <a:lnSpc>
                <a:spcPct val="103000"/>
              </a:lnSpc>
              <a:spcAft>
                <a:spcPts val="200"/>
              </a:spcAft>
            </a:pPr>
            <a:r>
              <a:rPr sz="1150" b="0" i="0">
                <a:solidFill>
                  <a:srgbClr val="1E2933"/>
                </a:solidFill>
                <a:latin typeface="Calibri"/>
              </a:rPr>
              <a:t>Assumption-gated tests, FDR control, the right measurement axis (e.g. MDR over age).</a:t>
            </a:r>
          </a:p>
        </p:txBody>
      </p:sp>
      <p:sp>
        <p:nvSpPr>
          <p:cNvPr id="8" name="Rounded Rectangle 7"/>
          <p:cNvSpPr/>
          <p:nvPr/>
        </p:nvSpPr>
        <p:spPr>
          <a:xfrm>
            <a:off x="548640" y="4407408"/>
            <a:ext cx="11109960" cy="841248"/>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Independently verifiable</a:t>
            </a:r>
          </a:p>
          <a:p>
            <a:pPr>
              <a:lnSpc>
                <a:spcPct val="103000"/>
              </a:lnSpc>
              <a:spcAft>
                <a:spcPts val="200"/>
              </a:spcAft>
            </a:pPr>
            <a:r>
              <a:rPr sz="1150" b="0" i="0">
                <a:solidFill>
                  <a:srgbClr val="1E2933"/>
                </a:solidFill>
                <a:latin typeface="Calibri"/>
              </a:rPr>
              <a:t>The full validation + comparison suite ships; every number regenerates with one command.</a:t>
            </a:r>
          </a:p>
        </p:txBody>
      </p:sp>
      <p:sp>
        <p:nvSpPr>
          <p:cNvPr id="9" name="Rounded Rectangle 8"/>
          <p:cNvSpPr/>
          <p:nvPr/>
        </p:nvSpPr>
        <p:spPr>
          <a:xfrm>
            <a:off x="548640" y="5358384"/>
            <a:ext cx="11109960" cy="841248"/>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Honest about limits</a:t>
            </a:r>
          </a:p>
          <a:p>
            <a:pPr>
              <a:lnSpc>
                <a:spcPct val="103000"/>
              </a:lnSpc>
              <a:spcAft>
                <a:spcPts val="200"/>
              </a:spcAft>
            </a:pPr>
            <a:r>
              <a:rPr sz="1150" b="0" i="0">
                <a:solidFill>
                  <a:srgbClr val="1E2933"/>
                </a:solidFill>
                <a:latin typeface="Calibri"/>
              </a:rPr>
              <a:t>Method notes (Breslow vs Efron), un-buildable tools, and simulated-vs-real data are all stated explicitly.</a:t>
            </a:r>
          </a:p>
        </p:txBody>
      </p:sp>
      <p:sp>
        <p:nvSpPr>
          <p:cNvPr id="10" name="TextBox 9"/>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365760"/>
          </a:xfrm>
          <a:prstGeom prst="rect">
            <a:avLst/>
          </a:prstGeom>
          <a:noFill/>
        </p:spPr>
        <p:txBody>
          <a:bodyPr wrap="square" anchor="t" lIns="25400" rIns="25400" tIns="25400" bIns="25400">
            <a:spAutoFit/>
          </a:bodyPr>
          <a:lstStyle/>
          <a:p>
            <a:r>
              <a:rPr sz="1200" b="1" i="0">
                <a:solidFill>
                  <a:srgbClr val="F0A500"/>
                </a:solidFill>
                <a:latin typeface="Calibri"/>
              </a:rPr>
              <a:t>IMPACT</a:t>
            </a:r>
          </a:p>
        </p:txBody>
      </p:sp>
      <p:sp>
        <p:nvSpPr>
          <p:cNvPr id="4" name="TextBox 3"/>
          <p:cNvSpPr txBox="1"/>
          <p:nvPr/>
        </p:nvSpPr>
        <p:spPr>
          <a:xfrm>
            <a:off x="548640" y="713232"/>
            <a:ext cx="11064240" cy="822960"/>
          </a:xfrm>
          <a:prstGeom prst="rect">
            <a:avLst/>
          </a:prstGeom>
          <a:noFill/>
        </p:spPr>
        <p:txBody>
          <a:bodyPr wrap="square" anchor="t" lIns="25400" rIns="25400" tIns="25400" bIns="25400">
            <a:spAutoFit/>
          </a:bodyPr>
          <a:lstStyle/>
          <a:p>
            <a:r>
              <a:rPr sz="3000" b="1" i="0">
                <a:solidFill>
                  <a:srgbClr val="0D2137"/>
                </a:solidFill>
                <a:latin typeface="Calibri"/>
              </a:rPr>
              <a:t>Applications — how it helps</a:t>
            </a:r>
          </a:p>
        </p:txBody>
      </p:sp>
      <p:sp>
        <p:nvSpPr>
          <p:cNvPr id="5" name="Rounded Rectangle 4"/>
          <p:cNvSpPr/>
          <p:nvPr/>
        </p:nvSpPr>
        <p:spPr>
          <a:xfrm>
            <a:off x="548640" y="1554480"/>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Neurodegeneration screening</a:t>
            </a:r>
          </a:p>
          <a:p>
            <a:pPr>
              <a:lnSpc>
                <a:spcPct val="103000"/>
              </a:lnSpc>
              <a:spcAft>
                <a:spcPts val="200"/>
              </a:spcAft>
            </a:pPr>
            <a:r>
              <a:rPr sz="1150" b="0" i="0">
                <a:solidFill>
                  <a:srgbClr val="1E2933"/>
                </a:solidFill>
                <a:latin typeface="Calibri"/>
              </a:rPr>
              <a:t>Quantify a compound's effect in ALS / PD / HD fly models across climbing, lifespan, cognition, sleep and locomotion.</a:t>
            </a:r>
          </a:p>
        </p:txBody>
      </p:sp>
      <p:sp>
        <p:nvSpPr>
          <p:cNvPr id="6" name="Rounded Rectangle 5"/>
          <p:cNvSpPr/>
          <p:nvPr/>
        </p:nvSpPr>
        <p:spPr>
          <a:xfrm>
            <a:off x="6263640" y="1554480"/>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Cross-strain compound triage</a:t>
            </a:r>
          </a:p>
          <a:p>
            <a:pPr>
              <a:lnSpc>
                <a:spcPct val="103000"/>
              </a:lnSpc>
              <a:spcAft>
                <a:spcPts val="200"/>
              </a:spcAft>
            </a:pPr>
            <a:r>
              <a:rPr sz="1150" b="0" i="0">
                <a:solidFill>
                  <a:srgbClr val="1E2933"/>
                </a:solidFill>
                <a:latin typeface="Calibri"/>
              </a:rPr>
              <a:t>Rank candidates fairly across disease backgrounds of unequal size — the core novelty.</a:t>
            </a:r>
          </a:p>
        </p:txBody>
      </p:sp>
      <p:sp>
        <p:nvSpPr>
          <p:cNvPr id="7" name="Rounded Rectangle 6"/>
          <p:cNvSpPr/>
          <p:nvPr/>
        </p:nvSpPr>
        <p:spPr>
          <a:xfrm>
            <a:off x="548640" y="3072384"/>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Translational scoring</a:t>
            </a:r>
          </a:p>
          <a:p>
            <a:pPr>
              <a:lnSpc>
                <a:spcPct val="103000"/>
              </a:lnSpc>
              <a:spcAft>
                <a:spcPts val="200"/>
              </a:spcAft>
            </a:pPr>
            <a:r>
              <a:rPr sz="1150" b="0" i="0">
                <a:solidFill>
                  <a:srgbClr val="1E2933"/>
                </a:solidFill>
                <a:latin typeface="Calibri"/>
              </a:rPr>
              <a:t>Prioritise broad, safe, sustained rescue over high-efficacy but sex-discordant or WT-perturbing hits.</a:t>
            </a:r>
          </a:p>
        </p:txBody>
      </p:sp>
      <p:sp>
        <p:nvSpPr>
          <p:cNvPr id="8" name="Rounded Rectangle 7"/>
          <p:cNvSpPr/>
          <p:nvPr/>
        </p:nvSpPr>
        <p:spPr>
          <a:xfrm>
            <a:off x="6263640" y="3072384"/>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Ageing &amp; circadian biology</a:t>
            </a:r>
          </a:p>
          <a:p>
            <a:pPr>
              <a:lnSpc>
                <a:spcPct val="103000"/>
              </a:lnSpc>
              <a:spcAft>
                <a:spcPts val="200"/>
              </a:spcAft>
            </a:pPr>
            <a:r>
              <a:rPr sz="1150" b="0" i="0">
                <a:solidFill>
                  <a:srgbClr val="1E2933"/>
                </a:solidFill>
                <a:latin typeface="Calibri"/>
              </a:rPr>
              <a:t>Age-resolved motor decline, sleep architecture and free-running period in one workflow.</a:t>
            </a:r>
          </a:p>
        </p:txBody>
      </p:sp>
      <p:sp>
        <p:nvSpPr>
          <p:cNvPr id="9" name="Rounded Rectangle 8"/>
          <p:cNvSpPr/>
          <p:nvPr/>
        </p:nvSpPr>
        <p:spPr>
          <a:xfrm>
            <a:off x="548640" y="4590288"/>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Teaching &amp; reproducibility</a:t>
            </a:r>
          </a:p>
          <a:p>
            <a:pPr>
              <a:lnSpc>
                <a:spcPct val="103000"/>
              </a:lnSpc>
              <a:spcAft>
                <a:spcPts val="200"/>
              </a:spcAft>
            </a:pPr>
            <a:r>
              <a:rPr sz="1150" b="0" i="0">
                <a:solidFill>
                  <a:srgbClr val="1E2933"/>
                </a:solidFill>
                <a:latin typeface="Calibri"/>
              </a:rPr>
              <a:t>A transparent, benchmarked reference implementation of standard behavioural statistics.</a:t>
            </a:r>
          </a:p>
        </p:txBody>
      </p:sp>
      <p:sp>
        <p:nvSpPr>
          <p:cNvPr id="10" name="Rounded Rectangle 9"/>
          <p:cNvSpPr/>
          <p:nvPr/>
        </p:nvSpPr>
        <p:spPr>
          <a:xfrm>
            <a:off x="6263640" y="4590288"/>
            <a:ext cx="5532120" cy="1371600"/>
          </a:xfrm>
          <a:prstGeom prst="roundRect">
            <a:avLst/>
          </a:prstGeom>
          <a:solidFill>
            <a:srgbClr val="F4F7FB"/>
          </a:solidFill>
          <a:ln w="12700">
            <a:solidFill>
              <a:srgbClr val="C5D7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14300" bIns="101600"/>
          <a:lstStyle/>
          <a:p>
            <a:pPr algn="ctr">
              <a:spcAft>
                <a:spcPts val="400"/>
              </a:spcAft>
            </a:pPr>
            <a:r>
              <a:rPr sz="1400" b="1" i="0">
                <a:solidFill>
                  <a:srgbClr val="0D2137"/>
                </a:solidFill>
                <a:latin typeface="Calibri"/>
              </a:rPr>
              <a:t>Open science</a:t>
            </a:r>
          </a:p>
          <a:p>
            <a:pPr>
              <a:lnSpc>
                <a:spcPct val="103000"/>
              </a:lnSpc>
              <a:spcAft>
                <a:spcPts val="200"/>
              </a:spcAft>
            </a:pPr>
            <a:r>
              <a:rPr sz="1150" b="0" i="0">
                <a:solidFill>
                  <a:srgbClr val="1E2933"/>
                </a:solidFill>
                <a:latin typeface="Calibri"/>
              </a:rPr>
              <a:t>Free, no-login web app + open code + data templates lower the barrier for any fly lab.</a:t>
            </a:r>
          </a:p>
        </p:txBody>
      </p:sp>
      <p:sp>
        <p:nvSpPr>
          <p:cNvPr id="11" name="TextBox 10"/>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5A6B7B"/>
                </a:solidFill>
                <a:latin typeface="Calibri"/>
              </a:rPr>
              <a:t>DroPhenix Analytics v3.0</a:t>
            </a:r>
            <a:r>
              <a:rPr sz="900" b="0" i="0">
                <a:solidFill>
                  <a:srgbClr val="5A6B7B"/>
                </a:solidFill>
                <a:latin typeface="Calibri"/>
              </a:rPr>
              <a:t>   ·   drophenix.streamlit.app   ·   SSSIHL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27432"/>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05840"/>
            <a:ext cx="10515600" cy="1097280"/>
          </a:xfrm>
          <a:prstGeom prst="rect">
            <a:avLst/>
          </a:prstGeom>
          <a:noFill/>
        </p:spPr>
        <p:txBody>
          <a:bodyPr wrap="square" anchor="t" lIns="25400" rIns="25400" tIns="25400" bIns="25400">
            <a:spAutoFit/>
          </a:bodyPr>
          <a:lstStyle/>
          <a:p>
            <a:r>
              <a:rPr sz="3400" b="1" i="0">
                <a:solidFill>
                  <a:srgbClr val="FFFFFF"/>
                </a:solidFill>
                <a:latin typeface="Calibri"/>
              </a:rPr>
              <a:t>From fragmented spreadsheets to one verifiable workflow</a:t>
            </a:r>
          </a:p>
        </p:txBody>
      </p:sp>
      <p:sp>
        <p:nvSpPr>
          <p:cNvPr id="5" name="TextBox 4"/>
          <p:cNvSpPr txBox="1"/>
          <p:nvPr/>
        </p:nvSpPr>
        <p:spPr>
          <a:xfrm>
            <a:off x="822960" y="2514600"/>
            <a:ext cx="10515600" cy="2743200"/>
          </a:xfrm>
          <a:prstGeom prst="rect">
            <a:avLst/>
          </a:prstGeom>
          <a:noFill/>
        </p:spPr>
        <p:txBody>
          <a:bodyPr wrap="square" anchor="t" lIns="25400" rIns="25400" tIns="25400" bIns="25400">
            <a:spAutoFit/>
          </a:bodyPr>
          <a:lstStyle/>
          <a:p>
            <a:pPr>
              <a:lnSpc>
                <a:spcPct val="105000"/>
              </a:lnSpc>
              <a:spcAft>
                <a:spcPts val="1100"/>
              </a:spcAft>
            </a:pPr>
            <a:r>
              <a:rPr sz="1500" b="1" i="0">
                <a:solidFill>
                  <a:srgbClr val="F0A500"/>
                </a:solidFill>
                <a:latin typeface="Calibri"/>
              </a:rPr>
              <a:t>•  </a:t>
            </a:r>
            <a:r>
              <a:rPr sz="1500" b="1" i="0">
                <a:solidFill>
                  <a:srgbClr val="EEF2F9"/>
                </a:solidFill>
                <a:latin typeface="Calibri"/>
              </a:rPr>
              <a:t>Six assays, one platform, </a:t>
            </a:r>
            <a:r>
              <a:rPr sz="1500" b="0" i="0">
                <a:solidFill>
                  <a:srgbClr val="EEF2F9"/>
                </a:solidFill>
                <a:latin typeface="Calibri"/>
              </a:rPr>
              <a:t>with publication-grade statistics throughout.</a:t>
            </a:r>
          </a:p>
          <a:p>
            <a:pPr>
              <a:lnSpc>
                <a:spcPct val="105000"/>
              </a:lnSpc>
              <a:spcAft>
                <a:spcPts val="1100"/>
              </a:spcAft>
            </a:pPr>
            <a:r>
              <a:rPr sz="1500" b="1" i="0">
                <a:solidFill>
                  <a:srgbClr val="F0A500"/>
                </a:solidFill>
                <a:latin typeface="Calibri"/>
              </a:rPr>
              <a:t>•  </a:t>
            </a:r>
            <a:r>
              <a:rPr sz="1500" b="1" i="0">
                <a:solidFill>
                  <a:srgbClr val="EEF2F9"/>
                </a:solidFill>
                <a:latin typeface="Calibri"/>
              </a:rPr>
              <a:t>A genuinely novel innovation: </a:t>
            </a:r>
            <a:r>
              <a:rPr sz="1500" b="0" i="0">
                <a:solidFill>
                  <a:srgbClr val="EEF2F9"/>
                </a:solidFill>
                <a:latin typeface="Calibri"/>
              </a:rPr>
              <a:t>actuarial, unequal-N cross-strain compound ranking (19.9% more efficient than naive averaging).</a:t>
            </a:r>
          </a:p>
          <a:p>
            <a:pPr>
              <a:lnSpc>
                <a:spcPct val="105000"/>
              </a:lnSpc>
              <a:spcAft>
                <a:spcPts val="1100"/>
              </a:spcAft>
            </a:pPr>
            <a:r>
              <a:rPr sz="1500" b="1" i="0">
                <a:solidFill>
                  <a:srgbClr val="F0A500"/>
                </a:solidFill>
                <a:latin typeface="Calibri"/>
              </a:rPr>
              <a:t>•  </a:t>
            </a:r>
            <a:r>
              <a:rPr sz="1500" b="1" i="0">
                <a:solidFill>
                  <a:srgbClr val="EEF2F9"/>
                </a:solidFill>
                <a:latin typeface="Calibri"/>
              </a:rPr>
              <a:t>Validated and benchmarked: </a:t>
            </a:r>
            <a:r>
              <a:rPr sz="1500" b="0" i="0">
                <a:solidFill>
                  <a:srgbClr val="EEF2F9"/>
                </a:solidFill>
                <a:latin typeface="Calibri"/>
              </a:rPr>
              <a:t>reproduces published data and agrees with gold-standard software on 24/24 checks.</a:t>
            </a:r>
          </a:p>
          <a:p>
            <a:pPr>
              <a:lnSpc>
                <a:spcPct val="105000"/>
              </a:lnSpc>
              <a:spcAft>
                <a:spcPts val="1100"/>
              </a:spcAft>
            </a:pPr>
            <a:r>
              <a:rPr sz="1500" b="1" i="0">
                <a:solidFill>
                  <a:srgbClr val="F0A500"/>
                </a:solidFill>
                <a:latin typeface="Calibri"/>
              </a:rPr>
              <a:t>•  </a:t>
            </a:r>
            <a:r>
              <a:rPr sz="1500" b="1" i="0">
                <a:solidFill>
                  <a:srgbClr val="EEF2F9"/>
                </a:solidFill>
                <a:latin typeface="Calibri"/>
              </a:rPr>
              <a:t>Free and open: </a:t>
            </a:r>
            <a:r>
              <a:rPr sz="1500" b="0" i="0">
                <a:solidFill>
                  <a:srgbClr val="EEF2F9"/>
                </a:solidFill>
                <a:latin typeface="Calibri"/>
              </a:rPr>
              <a:t>drophenix.streamlit.app · GitHub · GPL-3 · manuscript prepared for Nucleic Acids Research.</a:t>
            </a:r>
          </a:p>
        </p:txBody>
      </p:sp>
      <p:sp>
        <p:nvSpPr>
          <p:cNvPr id="6" name="TextBox 5"/>
          <p:cNvSpPr txBox="1"/>
          <p:nvPr/>
        </p:nvSpPr>
        <p:spPr>
          <a:xfrm>
            <a:off x="548640" y="6419088"/>
            <a:ext cx="11064240" cy="274320"/>
          </a:xfrm>
          <a:prstGeom prst="rect">
            <a:avLst/>
          </a:prstGeom>
          <a:noFill/>
        </p:spPr>
        <p:txBody>
          <a:bodyPr wrap="square" anchor="t" lIns="25400" rIns="25400" tIns="25400" bIns="25400">
            <a:spAutoFit/>
          </a:bodyPr>
          <a:lstStyle/>
          <a:p>
            <a:r>
              <a:rPr sz="900" b="1" i="0">
                <a:solidFill>
                  <a:srgbClr val="F0A500"/>
                </a:solidFill>
                <a:latin typeface="Calibri"/>
              </a:rPr>
              <a:t>DroPhenix Analytics v3.0</a:t>
            </a:r>
            <a:r>
              <a:rPr sz="900" b="0" i="0">
                <a:solidFill>
                  <a:srgbClr val="EEF2F9"/>
                </a:solidFill>
                <a:latin typeface="Calibri"/>
              </a:rPr>
              <a:t>   ·   drophenix.streamlit.app   ·   SSSIHL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